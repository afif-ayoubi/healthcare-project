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Tuberculosis is preventable and curable, yet it remains one of the world’s largest infectious-disease burdens. My project turns WHO-derived country-level estimates into a Streamlit decision-support dashboard. In the reproducible 2024 snapshot, about 10.55 million people developed TB, 8.33 million new and relapse cases were notified, and calculated diagnosis-and-treatment coverage was 78.9%. The purpose is to show not only where TB is high, but where the health-system response may still be incomplete.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analytical problem is the gap between estimated disease burden and the people who appear in routine services. I calculate the notification difference as estimated incident cases minus notified new and relapse cases. It is deliberately labelled as an estimate and a surveillance signal, because it does not prove that every person in the difference was untreated. The dashboard answers four practical questions: where burden is highest, how trends are changing, who and which subtypes are most affected, and where a healthcare system should investigate first.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is reproducible from raw input to dashboard. I retained the raw snapshots, standardized identifiers and numeric fields in pandas, merged the indicators into one country-year model, and recalculated global and regional rates from the country data. Automated checks confirm unique country-year records, the 2000-to-2024 range, non-negative burden values and male/female age-sex data. The final package contains the code, raw and processed files, a data dictionary, source hashes, and validation output.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time series shows substantial improvement. Notifications more than doubled since 2000, and calculated coverage rose from 32.4% to 78.9%. However, the 2024 snapshot still contains a 2.22 million difference between estimated burden and notified cases. The 2020 disruption is especially important: notifications fell by 18.1% from 2019 while estimated incidence moved much less. This shows that service access and reporting can deteriorate rapidly even when the underlying disease burden does not disappear.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Geography changes the interpretation. Indonesia had the largest absolute notification difference, about 241 thousand, while India had the largest total burden but calculated coverage above 92%. Myanmar illustrates a different risk: a smaller absolute burden, but coverage below 44%. At regional level, the Western Pacific had the largest absolute notification difference. The dashboard therefore avoids ranking countries on one indicator alone and encourages users to combine absolute volume, population rate and service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age-sex analysis adds a population lens. Estimated male incidence was about one and a half times female incidence, with the largest adult burden in ages 25 to 54. The subtype analysis adds a clinical-programme lens. HIV-associated TB was concentrated in sub-Saharan Africa, especially South Africa, while drug-resistant TB followed a different pattern led by India and several European and Asian settings. These are not interchangeable problems: TB–HIV requires integrated testing and treatment pathways, while resistance requires rapid susceptibility testing and effective regimens.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leads to four actions: prioritize high-volume detection gaps; protect TB services during disruption; integrate TB–HIV and drug-resistance pathways according to the local pattern; and tailor outreach while governing the data carefully. The value of the project is the sequence: find where burden and coverage gaps are concentrated, target the population and programme response, and act with measurable interventions. The app, data, code, manual, report and presentation are ready for deployment; the final step is publishing through the student’s Streamlit account.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658368" y="475488"/>
            <a:ext cx="4572000" cy="320040"/>
          </a:xfrm>
          <a:prstGeom prst="rect">
            <a:avLst/>
          </a:prstGeom>
          <a:noFill/>
        </p:spPr>
        <p:txBody>
          <a:bodyPr wrap="none" lIns="27432" rIns="27432" tIns="27432" bIns="27432" anchor="t">
            <a:spAutoFit/>
          </a:bodyPr>
          <a:lstStyle/>
          <a:p>
            <a:pPr algn="l">
              <a:spcAft>
                <a:spcPts val="0"/>
              </a:spcAft>
            </a:pPr>
            <a:r>
              <a:rPr sz="1200" b="1" i="0">
                <a:solidFill>
                  <a:srgbClr val="9EE7E5"/>
                </a:solidFill>
                <a:latin typeface="Liberation Sans"/>
              </a:rPr>
              <a:t>MSBA382 · HEALTHCARE ANALYTICS</a:t>
            </a:r>
          </a:p>
        </p:txBody>
      </p:sp>
      <p:sp>
        <p:nvSpPr>
          <p:cNvPr id="3" name="TextBox 2"/>
          <p:cNvSpPr txBox="1"/>
          <p:nvPr/>
        </p:nvSpPr>
        <p:spPr>
          <a:xfrm>
            <a:off x="658368" y="969264"/>
            <a:ext cx="7772400" cy="1371600"/>
          </a:xfrm>
          <a:prstGeom prst="rect">
            <a:avLst/>
          </a:prstGeom>
          <a:noFill/>
        </p:spPr>
        <p:txBody>
          <a:bodyPr wrap="none" lIns="27432" rIns="27432" tIns="27432" bIns="27432" anchor="t">
            <a:spAutoFit/>
          </a:bodyPr>
          <a:lstStyle/>
          <a:p>
            <a:pPr algn="l">
              <a:spcAft>
                <a:spcPts val="0"/>
              </a:spcAft>
            </a:pPr>
            <a:r>
              <a:rPr sz="3400" b="1" i="0">
                <a:solidFill>
                  <a:srgbClr val="FFFFFF"/>
                </a:solidFill>
                <a:latin typeface="Liberation Sans"/>
              </a:rPr>
              <a:t>Global Tuberculosis
Burden &amp; Treatment Gaps</a:t>
            </a:r>
          </a:p>
        </p:txBody>
      </p:sp>
      <p:sp>
        <p:nvSpPr>
          <p:cNvPr id="4" name="TextBox 3"/>
          <p:cNvSpPr txBox="1"/>
          <p:nvPr/>
        </p:nvSpPr>
        <p:spPr>
          <a:xfrm>
            <a:off x="685800" y="2331720"/>
            <a:ext cx="7315200" cy="365760"/>
          </a:xfrm>
          <a:prstGeom prst="rect">
            <a:avLst/>
          </a:prstGeom>
          <a:noFill/>
        </p:spPr>
        <p:txBody>
          <a:bodyPr wrap="none" lIns="27432" rIns="27432" tIns="27432" bIns="27432" anchor="t">
            <a:spAutoFit/>
          </a:bodyPr>
          <a:lstStyle/>
          <a:p>
            <a:pPr algn="l">
              <a:spcAft>
                <a:spcPts val="0"/>
              </a:spcAft>
            </a:pPr>
            <a:r>
              <a:rPr sz="1700" b="0" i="0">
                <a:solidFill>
                  <a:srgbClr val="DCEFF4"/>
                </a:solidFill>
                <a:latin typeface="Liberation Sans"/>
              </a:rPr>
              <a:t>Trends, demographic disparities and geographic patterns</a:t>
            </a:r>
          </a:p>
        </p:txBody>
      </p:sp>
      <p:sp>
        <p:nvSpPr>
          <p:cNvPr id="5" name="TextBox 4"/>
          <p:cNvSpPr txBox="1"/>
          <p:nvPr/>
        </p:nvSpPr>
        <p:spPr>
          <a:xfrm>
            <a:off x="685800" y="2788920"/>
            <a:ext cx="7223760" cy="658368"/>
          </a:xfrm>
          <a:prstGeom prst="rect">
            <a:avLst/>
          </a:prstGeom>
          <a:noFill/>
        </p:spPr>
        <p:txBody>
          <a:bodyPr wrap="none" lIns="27432" rIns="27432" tIns="27432" bIns="27432" anchor="t">
            <a:spAutoFit/>
          </a:bodyPr>
          <a:lstStyle/>
          <a:p>
            <a:pPr algn="l">
              <a:spcAft>
                <a:spcPts val="0"/>
              </a:spcAft>
            </a:pPr>
            <a:r>
              <a:rPr sz="2000" b="0" i="0">
                <a:solidFill>
                  <a:srgbClr val="FFFFFF"/>
                </a:solidFill>
                <a:latin typeface="Liberation Sans"/>
              </a:rPr>
              <a:t>A decision-support dashboard for finding where burden and service-coverage gaps are concentrated.</a:t>
            </a:r>
          </a:p>
        </p:txBody>
      </p:sp>
      <p:sp>
        <p:nvSpPr>
          <p:cNvPr id="6" name="Rounded Rectangle 5"/>
          <p:cNvSpPr/>
          <p:nvPr/>
        </p:nvSpPr>
        <p:spPr>
          <a:xfrm>
            <a:off x="685800" y="3950208"/>
            <a:ext cx="2423160" cy="1060704"/>
          </a:xfrm>
          <a:prstGeom prst="roundRect">
            <a:avLst/>
          </a:prstGeom>
          <a:solidFill>
            <a:srgbClr val="FFFFFF"/>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3950208"/>
            <a:ext cx="64008" cy="1060704"/>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4078224"/>
            <a:ext cx="2194560" cy="256032"/>
          </a:xfrm>
          <a:prstGeom prst="rect">
            <a:avLst/>
          </a:prstGeom>
          <a:noFill/>
        </p:spPr>
        <p:txBody>
          <a:bodyPr wrap="none" lIns="27432" rIns="27432" tIns="27432" bIns="27432" anchor="t">
            <a:spAutoFit/>
          </a:bodyPr>
          <a:lstStyle/>
          <a:p>
            <a:pPr algn="l">
              <a:spcAft>
                <a:spcPts val="0"/>
              </a:spcAft>
            </a:pPr>
            <a:r>
              <a:rPr sz="1100" b="1" i="0">
                <a:solidFill>
                  <a:srgbClr val="64748B"/>
                </a:solidFill>
                <a:latin typeface="Liberation Sans"/>
              </a:rPr>
              <a:t>ESTIMATED INCIDENT TB</a:t>
            </a:r>
          </a:p>
        </p:txBody>
      </p:sp>
      <p:sp>
        <p:nvSpPr>
          <p:cNvPr id="9" name="TextBox 8"/>
          <p:cNvSpPr txBox="1"/>
          <p:nvPr/>
        </p:nvSpPr>
        <p:spPr>
          <a:xfrm>
            <a:off x="841248" y="4389120"/>
            <a:ext cx="2194560" cy="384048"/>
          </a:xfrm>
          <a:prstGeom prst="rect">
            <a:avLst/>
          </a:prstGeom>
          <a:noFill/>
        </p:spPr>
        <p:txBody>
          <a:bodyPr wrap="none" lIns="27432" rIns="27432" tIns="27432" bIns="27432" anchor="t">
            <a:spAutoFit/>
          </a:bodyPr>
          <a:lstStyle/>
          <a:p>
            <a:pPr algn="l">
              <a:spcAft>
                <a:spcPts val="0"/>
              </a:spcAft>
            </a:pPr>
            <a:r>
              <a:rPr sz="2500" b="1" i="0">
                <a:solidFill>
                  <a:srgbClr val="0B1F33"/>
                </a:solidFill>
                <a:latin typeface="Liberation Sans"/>
              </a:rPr>
              <a:t>10.55M</a:t>
            </a:r>
          </a:p>
        </p:txBody>
      </p:sp>
      <p:sp>
        <p:nvSpPr>
          <p:cNvPr id="10" name="Rounded Rectangle 9"/>
          <p:cNvSpPr/>
          <p:nvPr/>
        </p:nvSpPr>
        <p:spPr>
          <a:xfrm>
            <a:off x="3273552" y="3950208"/>
            <a:ext cx="2423160" cy="1060704"/>
          </a:xfrm>
          <a:prstGeom prst="roundRect">
            <a:avLst/>
          </a:prstGeom>
          <a:solidFill>
            <a:srgbClr val="FFFFFF"/>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73552" y="3950208"/>
            <a:ext cx="64008" cy="106070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4078224"/>
            <a:ext cx="2194560" cy="256032"/>
          </a:xfrm>
          <a:prstGeom prst="rect">
            <a:avLst/>
          </a:prstGeom>
          <a:noFill/>
        </p:spPr>
        <p:txBody>
          <a:bodyPr wrap="none" lIns="27432" rIns="27432" tIns="27432" bIns="27432" anchor="t">
            <a:spAutoFit/>
          </a:bodyPr>
          <a:lstStyle/>
          <a:p>
            <a:pPr algn="l">
              <a:spcAft>
                <a:spcPts val="0"/>
              </a:spcAft>
            </a:pPr>
            <a:r>
              <a:rPr sz="1100" b="1" i="0">
                <a:solidFill>
                  <a:srgbClr val="64748B"/>
                </a:solidFill>
                <a:latin typeface="Liberation Sans"/>
              </a:rPr>
              <a:t>NOTIFIED CASES</a:t>
            </a:r>
          </a:p>
        </p:txBody>
      </p:sp>
      <p:sp>
        <p:nvSpPr>
          <p:cNvPr id="13" name="TextBox 12"/>
          <p:cNvSpPr txBox="1"/>
          <p:nvPr/>
        </p:nvSpPr>
        <p:spPr>
          <a:xfrm>
            <a:off x="3429000" y="4389120"/>
            <a:ext cx="2194560" cy="384048"/>
          </a:xfrm>
          <a:prstGeom prst="rect">
            <a:avLst/>
          </a:prstGeom>
          <a:noFill/>
        </p:spPr>
        <p:txBody>
          <a:bodyPr wrap="none" lIns="27432" rIns="27432" tIns="27432" bIns="27432" anchor="t">
            <a:spAutoFit/>
          </a:bodyPr>
          <a:lstStyle/>
          <a:p>
            <a:pPr algn="l">
              <a:spcAft>
                <a:spcPts val="0"/>
              </a:spcAft>
            </a:pPr>
            <a:r>
              <a:rPr sz="2500" b="1" i="0">
                <a:solidFill>
                  <a:srgbClr val="0B1F33"/>
                </a:solidFill>
                <a:latin typeface="Liberation Sans"/>
              </a:rPr>
              <a:t>8.33M</a:t>
            </a:r>
          </a:p>
        </p:txBody>
      </p:sp>
      <p:sp>
        <p:nvSpPr>
          <p:cNvPr id="14" name="Rounded Rectangle 13"/>
          <p:cNvSpPr/>
          <p:nvPr/>
        </p:nvSpPr>
        <p:spPr>
          <a:xfrm>
            <a:off x="5861304" y="3950208"/>
            <a:ext cx="2423160" cy="1060704"/>
          </a:xfrm>
          <a:prstGeom prst="roundRect">
            <a:avLst/>
          </a:prstGeom>
          <a:solidFill>
            <a:srgbClr val="FFFFFF"/>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61304" y="3950208"/>
            <a:ext cx="64008" cy="1060704"/>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16752" y="4078224"/>
            <a:ext cx="2194560" cy="256032"/>
          </a:xfrm>
          <a:prstGeom prst="rect">
            <a:avLst/>
          </a:prstGeom>
          <a:noFill/>
        </p:spPr>
        <p:txBody>
          <a:bodyPr wrap="none" lIns="27432" rIns="27432" tIns="27432" bIns="27432" anchor="t">
            <a:spAutoFit/>
          </a:bodyPr>
          <a:lstStyle/>
          <a:p>
            <a:pPr algn="l">
              <a:spcAft>
                <a:spcPts val="0"/>
              </a:spcAft>
            </a:pPr>
            <a:r>
              <a:rPr sz="1100" b="1" i="0">
                <a:solidFill>
                  <a:srgbClr val="64748B"/>
                </a:solidFill>
                <a:latin typeface="Liberation Sans"/>
              </a:rPr>
              <a:t>CALCULATED COVERAGE</a:t>
            </a:r>
          </a:p>
        </p:txBody>
      </p:sp>
      <p:sp>
        <p:nvSpPr>
          <p:cNvPr id="17" name="TextBox 16"/>
          <p:cNvSpPr txBox="1"/>
          <p:nvPr/>
        </p:nvSpPr>
        <p:spPr>
          <a:xfrm>
            <a:off x="6016752" y="4389120"/>
            <a:ext cx="2194560" cy="384048"/>
          </a:xfrm>
          <a:prstGeom prst="rect">
            <a:avLst/>
          </a:prstGeom>
          <a:noFill/>
        </p:spPr>
        <p:txBody>
          <a:bodyPr wrap="none" lIns="27432" rIns="27432" tIns="27432" bIns="27432" anchor="t">
            <a:spAutoFit/>
          </a:bodyPr>
          <a:lstStyle/>
          <a:p>
            <a:pPr algn="l">
              <a:spcAft>
                <a:spcPts val="0"/>
              </a:spcAft>
            </a:pPr>
            <a:r>
              <a:rPr sz="2500" b="1" i="0">
                <a:solidFill>
                  <a:srgbClr val="0B1F33"/>
                </a:solidFill>
                <a:latin typeface="Liberation Sans"/>
              </a:rPr>
              <a:t>78.9%</a:t>
            </a:r>
          </a:p>
        </p:txBody>
      </p:sp>
      <p:sp>
        <p:nvSpPr>
          <p:cNvPr id="18" name="Oval 17"/>
          <p:cNvSpPr/>
          <p:nvPr/>
        </p:nvSpPr>
        <p:spPr>
          <a:xfrm>
            <a:off x="9326880" y="1143000"/>
            <a:ext cx="475488" cy="475488"/>
          </a:xfrm>
          <a:prstGeom prst="ellipse">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0" y="1691640"/>
            <a:ext cx="310896" cy="310896"/>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646920" y="2423160"/>
            <a:ext cx="219456" cy="219456"/>
          </a:xfrm>
          <a:prstGeom prst="ellipse">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652760" y="2788920"/>
            <a:ext cx="411480" cy="4114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0" y="3429000"/>
            <a:ext cx="274320" cy="2743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195560" y="3794760"/>
            <a:ext cx="164592" cy="164592"/>
          </a:xfrm>
          <a:prstGeom prst="ellipse">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46920" y="4389120"/>
            <a:ext cx="384048" cy="38404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789920" y="4663440"/>
            <a:ext cx="256032" cy="256032"/>
          </a:xfrm>
          <a:prstGeom prst="ellipse">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266944"/>
            <a:ext cx="2743200" cy="274320"/>
          </a:xfrm>
          <a:prstGeom prst="rect">
            <a:avLst/>
          </a:prstGeom>
          <a:noFill/>
        </p:spPr>
        <p:txBody>
          <a:bodyPr wrap="none" lIns="27432" rIns="27432" tIns="27432" bIns="27432" anchor="t">
            <a:spAutoFit/>
          </a:bodyPr>
          <a:lstStyle/>
          <a:p>
            <a:pPr algn="l">
              <a:spcAft>
                <a:spcPts val="0"/>
              </a:spcAft>
            </a:pPr>
            <a:r>
              <a:rPr sz="1000" b="1" i="0">
                <a:solidFill>
                  <a:srgbClr val="9EE7E5"/>
                </a:solidFill>
                <a:latin typeface="Liberation Sans"/>
              </a:rPr>
              <a:t>Project snapshot · 2024</a:t>
            </a:r>
          </a:p>
        </p:txBody>
      </p:sp>
      <p:sp>
        <p:nvSpPr>
          <p:cNvPr id="27" name="TextBox 26"/>
          <p:cNvSpPr txBox="1"/>
          <p:nvPr/>
        </p:nvSpPr>
        <p:spPr>
          <a:xfrm>
            <a:off x="685800" y="5532120"/>
            <a:ext cx="7680960" cy="502920"/>
          </a:xfrm>
          <a:prstGeom prst="rect">
            <a:avLst/>
          </a:prstGeom>
          <a:noFill/>
        </p:spPr>
        <p:txBody>
          <a:bodyPr wrap="none" lIns="27432" rIns="27432" tIns="27432" bIns="27432" anchor="t">
            <a:spAutoFit/>
          </a:bodyPr>
          <a:lstStyle/>
          <a:p>
            <a:pPr algn="l">
              <a:spcAft>
                <a:spcPts val="0"/>
              </a:spcAft>
            </a:pPr>
            <a:r>
              <a:rPr sz="1000" b="0" i="0">
                <a:solidFill>
                  <a:srgbClr val="C7D9E3"/>
                </a:solidFill>
                <a:latin typeface="Liberation Sans"/>
              </a:rPr>
              <a:t>WHO published rounded global headlines of 10.7M incident cases and 1.23M deaths; this dashboard aggregates the reproducible country-level extract.</a:t>
            </a:r>
          </a:p>
        </p:txBody>
      </p:sp>
      <p:sp>
        <p:nvSpPr>
          <p:cNvPr id="28" name="TextBox 27"/>
          <p:cNvSpPr txBox="1"/>
          <p:nvPr/>
        </p:nvSpPr>
        <p:spPr>
          <a:xfrm>
            <a:off x="9144000" y="5897880"/>
            <a:ext cx="2286000" cy="274320"/>
          </a:xfrm>
          <a:prstGeom prst="rect">
            <a:avLst/>
          </a:prstGeom>
          <a:noFill/>
        </p:spPr>
        <p:txBody>
          <a:bodyPr wrap="none" lIns="27432" rIns="27432" tIns="27432" bIns="27432" anchor="t">
            <a:spAutoFit/>
          </a:bodyPr>
          <a:lstStyle/>
          <a:p>
            <a:pPr algn="r">
              <a:spcAft>
                <a:spcPts val="0"/>
              </a:spcAft>
            </a:pPr>
            <a:r>
              <a:rPr sz="1200" b="1" i="0">
                <a:solidFill>
                  <a:srgbClr val="FFFFFF"/>
                </a:solidFill>
                <a:latin typeface="Liberation Sans"/>
              </a:rPr>
              <a:t>[Student Name]</a:t>
            </a:r>
          </a:p>
        </p:txBody>
      </p:sp>
      <p:sp>
        <p:nvSpPr>
          <p:cNvPr id="29" name="TextBox 28"/>
          <p:cNvSpPr txBox="1"/>
          <p:nvPr/>
        </p:nvSpPr>
        <p:spPr>
          <a:xfrm>
            <a:off x="9144000" y="6199632"/>
            <a:ext cx="2286000" cy="228600"/>
          </a:xfrm>
          <a:prstGeom prst="rect">
            <a:avLst/>
          </a:prstGeom>
          <a:noFill/>
        </p:spPr>
        <p:txBody>
          <a:bodyPr wrap="none" lIns="27432" rIns="27432" tIns="27432" bIns="27432" anchor="t">
            <a:spAutoFit/>
          </a:bodyPr>
          <a:lstStyle/>
          <a:p>
            <a:pPr algn="r">
              <a:spcAft>
                <a:spcPts val="0"/>
              </a:spcAft>
            </a:pPr>
            <a:r>
              <a:rPr sz="1000" b="0" i="0">
                <a:solidFill>
                  <a:srgbClr val="C7D9E3"/>
                </a:solidFill>
                <a:latin typeface="Liberation Sans"/>
              </a:rPr>
              <a:t>23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3657600" cy="256032"/>
          </a:xfrm>
          <a:prstGeom prst="rect">
            <a:avLst/>
          </a:prstGeom>
          <a:noFill/>
        </p:spPr>
        <p:txBody>
          <a:bodyPr wrap="none" lIns="27432" rIns="27432" tIns="27432" bIns="27432" anchor="t">
            <a:spAutoFit/>
          </a:bodyPr>
          <a:lstStyle/>
          <a:p>
            <a:pPr algn="l">
              <a:spcAft>
                <a:spcPts val="0"/>
              </a:spcAft>
            </a:pPr>
            <a:r>
              <a:rPr sz="1000" b="1" i="0">
                <a:solidFill>
                  <a:srgbClr val="0E7490"/>
                </a:solidFill>
                <a:latin typeface="Liberation Sans"/>
              </a:rPr>
              <a:t>WHY THIS DASHBOARD</a:t>
            </a:r>
          </a:p>
        </p:txBody>
      </p:sp>
      <p:sp>
        <p:nvSpPr>
          <p:cNvPr id="3" name="TextBox 2"/>
          <p:cNvSpPr txBox="1"/>
          <p:nvPr/>
        </p:nvSpPr>
        <p:spPr>
          <a:xfrm>
            <a:off x="502920" y="475488"/>
            <a:ext cx="10789920" cy="502920"/>
          </a:xfrm>
          <a:prstGeom prst="rect">
            <a:avLst/>
          </a:prstGeom>
          <a:noFill/>
        </p:spPr>
        <p:txBody>
          <a:bodyPr wrap="none" lIns="27432" rIns="27432" tIns="27432" bIns="27432" anchor="t">
            <a:spAutoFit/>
          </a:bodyPr>
          <a:lstStyle/>
          <a:p>
            <a:pPr algn="l">
              <a:spcAft>
                <a:spcPts val="0"/>
              </a:spcAft>
            </a:pPr>
            <a:r>
              <a:rPr sz="2600" b="1" i="0">
                <a:solidFill>
                  <a:srgbClr val="0B1F33"/>
                </a:solidFill>
                <a:latin typeface="Liberation Sans"/>
              </a:rPr>
              <a:t>The analytical problem</a:t>
            </a:r>
          </a:p>
        </p:txBody>
      </p:sp>
      <p:sp>
        <p:nvSpPr>
          <p:cNvPr id="4" name="Rectangle 3"/>
          <p:cNvSpPr/>
          <p:nvPr/>
        </p:nvSpPr>
        <p:spPr>
          <a:xfrm>
            <a:off x="502920" y="1024128"/>
            <a:ext cx="11155680" cy="228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1400" y="201168"/>
            <a:ext cx="457200" cy="228600"/>
          </a:xfrm>
          <a:prstGeom prst="rect">
            <a:avLst/>
          </a:prstGeom>
          <a:noFill/>
        </p:spPr>
        <p:txBody>
          <a:bodyPr wrap="none" lIns="27432" rIns="27432" tIns="27432" bIns="27432" anchor="t">
            <a:spAutoFit/>
          </a:bodyPr>
          <a:lstStyle/>
          <a:p>
            <a:pPr algn="r">
              <a:spcAft>
                <a:spcPts val="0"/>
              </a:spcAft>
            </a:pPr>
            <a:r>
              <a:rPr sz="1000" b="1" i="0">
                <a:solidFill>
                  <a:srgbClr val="64748B"/>
                </a:solidFill>
                <a:latin typeface="Liberation Sans"/>
              </a:rPr>
              <a:t>2/7</a:t>
            </a:r>
          </a:p>
        </p:txBody>
      </p:sp>
      <p:sp>
        <p:nvSpPr>
          <p:cNvPr id="6" name="TextBox 5"/>
          <p:cNvSpPr txBox="1"/>
          <p:nvPr/>
        </p:nvSpPr>
        <p:spPr>
          <a:xfrm>
            <a:off x="594360" y="1234440"/>
            <a:ext cx="5577840" cy="548640"/>
          </a:xfrm>
          <a:prstGeom prst="rect">
            <a:avLst/>
          </a:prstGeom>
          <a:noFill/>
        </p:spPr>
        <p:txBody>
          <a:bodyPr wrap="none" lIns="27432" rIns="27432" tIns="27432" bIns="27432" anchor="t">
            <a:spAutoFit/>
          </a:bodyPr>
          <a:lstStyle/>
          <a:p>
            <a:pPr algn="l">
              <a:spcAft>
                <a:spcPts val="0"/>
              </a:spcAft>
            </a:pPr>
            <a:r>
              <a:rPr sz="2000" b="1" i="0">
                <a:solidFill>
                  <a:srgbClr val="0B1F33"/>
                </a:solidFill>
                <a:latin typeface="Liberation Sans"/>
              </a:rPr>
              <a:t>A gap can emerge between disease burden and people reached by services</a:t>
            </a:r>
          </a:p>
        </p:txBody>
      </p:sp>
      <p:sp>
        <p:nvSpPr>
          <p:cNvPr id="7" name="Rounded Rectangle 6"/>
          <p:cNvSpPr/>
          <p:nvPr/>
        </p:nvSpPr>
        <p:spPr>
          <a:xfrm>
            <a:off x="640080" y="1938528"/>
            <a:ext cx="5303520" cy="822960"/>
          </a:xfrm>
          <a:prstGeom prst="roundRect">
            <a:avLst/>
          </a:prstGeom>
          <a:solidFill>
            <a:srgbClr val="EEF6F8"/>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084831"/>
            <a:ext cx="2560320" cy="228600"/>
          </a:xfrm>
          <a:prstGeom prst="rect">
            <a:avLst/>
          </a:prstGeom>
          <a:noFill/>
        </p:spPr>
        <p:txBody>
          <a:bodyPr wrap="none" lIns="27432" rIns="27432" tIns="27432" bIns="27432" anchor="t">
            <a:spAutoFit/>
          </a:bodyPr>
          <a:lstStyle/>
          <a:p>
            <a:pPr algn="l">
              <a:spcAft>
                <a:spcPts val="0"/>
              </a:spcAft>
            </a:pPr>
            <a:r>
              <a:rPr sz="1400" b="1" i="0">
                <a:solidFill>
                  <a:srgbClr val="64748B"/>
                </a:solidFill>
                <a:latin typeface="Liberation Sans"/>
              </a:rPr>
              <a:t>Estimated incident TB</a:t>
            </a:r>
          </a:p>
        </p:txBody>
      </p:sp>
      <p:sp>
        <p:nvSpPr>
          <p:cNvPr id="9" name="TextBox 8"/>
          <p:cNvSpPr txBox="1"/>
          <p:nvPr/>
        </p:nvSpPr>
        <p:spPr>
          <a:xfrm>
            <a:off x="4251960" y="2029968"/>
            <a:ext cx="1280160" cy="411480"/>
          </a:xfrm>
          <a:prstGeom prst="rect">
            <a:avLst/>
          </a:prstGeom>
          <a:noFill/>
        </p:spPr>
        <p:txBody>
          <a:bodyPr wrap="none" lIns="27432" rIns="27432" tIns="27432" bIns="27432" anchor="t">
            <a:spAutoFit/>
          </a:bodyPr>
          <a:lstStyle/>
          <a:p>
            <a:pPr algn="r">
              <a:spcAft>
                <a:spcPts val="0"/>
              </a:spcAft>
            </a:pPr>
            <a:r>
              <a:rPr sz="2800" b="1" i="0">
                <a:solidFill>
                  <a:srgbClr val="E76F51"/>
                </a:solidFill>
                <a:latin typeface="Liberation Sans"/>
              </a:rPr>
              <a:t>10.55M</a:t>
            </a:r>
          </a:p>
        </p:txBody>
      </p:sp>
      <p:sp>
        <p:nvSpPr>
          <p:cNvPr id="10" name="Rounded Rectangle 9"/>
          <p:cNvSpPr/>
          <p:nvPr/>
        </p:nvSpPr>
        <p:spPr>
          <a:xfrm>
            <a:off x="640080" y="2980944"/>
            <a:ext cx="4206240" cy="822960"/>
          </a:xfrm>
          <a:prstGeom prst="roundRect">
            <a:avLst/>
          </a:prstGeom>
          <a:solidFill>
            <a:srgbClr val="E8F4F6"/>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127248"/>
            <a:ext cx="2560320" cy="228600"/>
          </a:xfrm>
          <a:prstGeom prst="rect">
            <a:avLst/>
          </a:prstGeom>
          <a:noFill/>
        </p:spPr>
        <p:txBody>
          <a:bodyPr wrap="none" lIns="27432" rIns="27432" tIns="27432" bIns="27432" anchor="t">
            <a:spAutoFit/>
          </a:bodyPr>
          <a:lstStyle/>
          <a:p>
            <a:pPr algn="l">
              <a:spcAft>
                <a:spcPts val="0"/>
              </a:spcAft>
            </a:pPr>
            <a:r>
              <a:rPr sz="1400" b="1" i="0">
                <a:solidFill>
                  <a:srgbClr val="64748B"/>
                </a:solidFill>
                <a:latin typeface="Liberation Sans"/>
              </a:rPr>
              <a:t>Notified new &amp; relapse</a:t>
            </a:r>
          </a:p>
        </p:txBody>
      </p:sp>
      <p:sp>
        <p:nvSpPr>
          <p:cNvPr id="12" name="TextBox 11"/>
          <p:cNvSpPr txBox="1"/>
          <p:nvPr/>
        </p:nvSpPr>
        <p:spPr>
          <a:xfrm>
            <a:off x="3337560" y="3072384"/>
            <a:ext cx="1097280" cy="411480"/>
          </a:xfrm>
          <a:prstGeom prst="rect">
            <a:avLst/>
          </a:prstGeom>
          <a:noFill/>
        </p:spPr>
        <p:txBody>
          <a:bodyPr wrap="none" lIns="27432" rIns="27432" tIns="27432" bIns="27432" anchor="t">
            <a:spAutoFit/>
          </a:bodyPr>
          <a:lstStyle/>
          <a:p>
            <a:pPr algn="r">
              <a:spcAft>
                <a:spcPts val="0"/>
              </a:spcAft>
            </a:pPr>
            <a:r>
              <a:rPr sz="2800" b="1" i="0">
                <a:solidFill>
                  <a:srgbClr val="0E7490"/>
                </a:solidFill>
                <a:latin typeface="Liberation Sans"/>
              </a:rPr>
              <a:t>8.33M</a:t>
            </a:r>
          </a:p>
        </p:txBody>
      </p:sp>
      <p:sp>
        <p:nvSpPr>
          <p:cNvPr id="13" name="Rounded Rectangle 12"/>
          <p:cNvSpPr/>
          <p:nvPr/>
        </p:nvSpPr>
        <p:spPr>
          <a:xfrm>
            <a:off x="640080" y="4069080"/>
            <a:ext cx="5303520" cy="960120"/>
          </a:xfrm>
          <a:prstGeom prst="roundRect">
            <a:avLst/>
          </a:prstGeom>
          <a:solidFill>
            <a:srgbClr val="FFF6ED"/>
          </a:solidFill>
          <a:ln w="12700">
            <a:solidFill>
              <a:srgbClr val="F2D7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233672"/>
            <a:ext cx="2834640" cy="256032"/>
          </a:xfrm>
          <a:prstGeom prst="rect">
            <a:avLst/>
          </a:prstGeom>
          <a:noFill/>
        </p:spPr>
        <p:txBody>
          <a:bodyPr wrap="none" lIns="27432" rIns="27432" tIns="27432" bIns="27432" anchor="t">
            <a:spAutoFit/>
          </a:bodyPr>
          <a:lstStyle/>
          <a:p>
            <a:pPr algn="l">
              <a:spcAft>
                <a:spcPts val="0"/>
              </a:spcAft>
            </a:pPr>
            <a:r>
              <a:rPr sz="1400" b="1" i="0">
                <a:solidFill>
                  <a:srgbClr val="E76F51"/>
                </a:solidFill>
                <a:latin typeface="Liberation Sans"/>
              </a:rPr>
              <a:t>Estimated notification difference</a:t>
            </a:r>
          </a:p>
        </p:txBody>
      </p:sp>
      <p:sp>
        <p:nvSpPr>
          <p:cNvPr id="15" name="TextBox 14"/>
          <p:cNvSpPr txBox="1"/>
          <p:nvPr/>
        </p:nvSpPr>
        <p:spPr>
          <a:xfrm>
            <a:off x="4160520" y="4187952"/>
            <a:ext cx="1325880" cy="384048"/>
          </a:xfrm>
          <a:prstGeom prst="rect">
            <a:avLst/>
          </a:prstGeom>
          <a:noFill/>
        </p:spPr>
        <p:txBody>
          <a:bodyPr wrap="none" lIns="27432" rIns="27432" tIns="27432" bIns="27432" anchor="t">
            <a:spAutoFit/>
          </a:bodyPr>
          <a:lstStyle/>
          <a:p>
            <a:pPr algn="r">
              <a:spcAft>
                <a:spcPts val="0"/>
              </a:spcAft>
            </a:pPr>
            <a:r>
              <a:rPr sz="2700" b="1" i="0">
                <a:solidFill>
                  <a:srgbClr val="0B1F33"/>
                </a:solidFill>
                <a:latin typeface="Liberation Sans"/>
              </a:rPr>
              <a:t>2.22M</a:t>
            </a:r>
          </a:p>
        </p:txBody>
      </p:sp>
      <p:sp>
        <p:nvSpPr>
          <p:cNvPr id="16" name="TextBox 15"/>
          <p:cNvSpPr txBox="1"/>
          <p:nvPr/>
        </p:nvSpPr>
        <p:spPr>
          <a:xfrm>
            <a:off x="868680" y="4590288"/>
            <a:ext cx="4480560" cy="256032"/>
          </a:xfrm>
          <a:prstGeom prst="rect">
            <a:avLst/>
          </a:prstGeom>
          <a:noFill/>
        </p:spPr>
        <p:txBody>
          <a:bodyPr wrap="none" lIns="27432" rIns="27432" tIns="27432" bIns="27432" anchor="t">
            <a:spAutoFit/>
          </a:bodyPr>
          <a:lstStyle/>
          <a:p>
            <a:pPr algn="l">
              <a:spcAft>
                <a:spcPts val="0"/>
              </a:spcAft>
            </a:pPr>
            <a:r>
              <a:rPr sz="1000" b="0" i="0">
                <a:solidFill>
                  <a:srgbClr val="64748B"/>
                </a:solidFill>
                <a:latin typeface="Liberation Sans"/>
              </a:rPr>
              <a:t>A surveillance signal — not proof every person was untreated</a:t>
            </a:r>
          </a:p>
        </p:txBody>
      </p:sp>
      <p:sp>
        <p:nvSpPr>
          <p:cNvPr id="17" name="TextBox 16"/>
          <p:cNvSpPr txBox="1"/>
          <p:nvPr/>
        </p:nvSpPr>
        <p:spPr>
          <a:xfrm>
            <a:off x="6537960" y="1261872"/>
            <a:ext cx="1828800" cy="320040"/>
          </a:xfrm>
          <a:prstGeom prst="rect">
            <a:avLst/>
          </a:prstGeom>
          <a:noFill/>
        </p:spPr>
        <p:txBody>
          <a:bodyPr wrap="none" lIns="27432" rIns="27432" tIns="27432" bIns="27432" anchor="t">
            <a:spAutoFit/>
          </a:bodyPr>
          <a:lstStyle/>
          <a:p>
            <a:pPr algn="l">
              <a:spcAft>
                <a:spcPts val="0"/>
              </a:spcAft>
            </a:pPr>
            <a:r>
              <a:rPr sz="1800" b="1" i="0">
                <a:solidFill>
                  <a:srgbClr val="0E7490"/>
                </a:solidFill>
                <a:latin typeface="Liberation Sans"/>
              </a:rPr>
              <a:t>Objective</a:t>
            </a:r>
          </a:p>
        </p:txBody>
      </p:sp>
      <p:sp>
        <p:nvSpPr>
          <p:cNvPr id="18" name="TextBox 17"/>
          <p:cNvSpPr txBox="1"/>
          <p:nvPr/>
        </p:nvSpPr>
        <p:spPr>
          <a:xfrm>
            <a:off x="6537960" y="1627632"/>
            <a:ext cx="4937760" cy="594360"/>
          </a:xfrm>
          <a:prstGeom prst="rect">
            <a:avLst/>
          </a:prstGeom>
          <a:noFill/>
        </p:spPr>
        <p:txBody>
          <a:bodyPr wrap="none" lIns="27432" rIns="27432" tIns="27432" bIns="27432" anchor="t">
            <a:spAutoFit/>
          </a:bodyPr>
          <a:lstStyle/>
          <a:p>
            <a:pPr algn="l">
              <a:spcAft>
                <a:spcPts val="0"/>
              </a:spcAft>
            </a:pPr>
            <a:r>
              <a:rPr sz="2200" b="1" i="0">
                <a:solidFill>
                  <a:srgbClr val="0B1F33"/>
                </a:solidFill>
                <a:latin typeface="Liberation Sans"/>
              </a:rPr>
              <a:t>Build one interactive tool that moves from description to prioritization.</a:t>
            </a:r>
          </a:p>
        </p:txBody>
      </p:sp>
      <p:sp>
        <p:nvSpPr>
          <p:cNvPr id="19" name="TextBox 18"/>
          <p:cNvSpPr txBox="1"/>
          <p:nvPr/>
        </p:nvSpPr>
        <p:spPr>
          <a:xfrm>
            <a:off x="6629400" y="2514600"/>
            <a:ext cx="4663440" cy="2377440"/>
          </a:xfrm>
          <a:prstGeom prst="rect">
            <a:avLst/>
          </a:prstGeom>
          <a:noFill/>
        </p:spPr>
        <p:txBody>
          <a:bodyPr wrap="square" lIns="36576" rIns="36576" tIns="27432" bIns="27432">
            <a:spAutoFit/>
          </a:bodyPr>
          <a:lstStyle/>
          <a:p>
            <a:pPr>
              <a:spcAft>
                <a:spcPts val="1100"/>
              </a:spcAft>
              <a:defRPr sz="1700">
                <a:solidFill>
                  <a:srgbClr val="0B1F33"/>
                </a:solidFill>
                <a:latin typeface="Liberation Sans"/>
              </a:defRPr>
            </a:pPr>
            <a:r>
              <a:t>Where is TB burden highest?</a:t>
            </a:r>
          </a:p>
          <a:p>
            <a:pPr>
              <a:spcAft>
                <a:spcPts val="1100"/>
              </a:spcAft>
              <a:defRPr sz="1700">
                <a:solidFill>
                  <a:srgbClr val="0B1F33"/>
                </a:solidFill>
                <a:latin typeface="Liberation Sans"/>
              </a:defRPr>
            </a:pPr>
            <a:r>
              <a:t>How is it changing over time?</a:t>
            </a:r>
          </a:p>
          <a:p>
            <a:pPr>
              <a:spcAft>
                <a:spcPts val="1100"/>
              </a:spcAft>
              <a:defRPr sz="1700">
                <a:solidFill>
                  <a:srgbClr val="0B1F33"/>
                </a:solidFill>
                <a:latin typeface="Liberation Sans"/>
              </a:defRPr>
            </a:pPr>
            <a:r>
              <a:t>Who and which subtypes are most affected?</a:t>
            </a:r>
          </a:p>
          <a:p>
            <a:pPr>
              <a:spcAft>
                <a:spcPts val="1100"/>
              </a:spcAft>
              <a:defRPr sz="1700">
                <a:solidFill>
                  <a:srgbClr val="0B1F33"/>
                </a:solidFill>
                <a:latin typeface="Liberation Sans"/>
              </a:defRPr>
            </a:pPr>
            <a:r>
              <a:t>Where should health systems investigate and act first?</a:t>
            </a:r>
          </a:p>
        </p:txBody>
      </p:sp>
      <p:sp>
        <p:nvSpPr>
          <p:cNvPr id="20" name="Rounded Rectangle 19"/>
          <p:cNvSpPr/>
          <p:nvPr/>
        </p:nvSpPr>
        <p:spPr>
          <a:xfrm>
            <a:off x="6537960" y="5166360"/>
            <a:ext cx="4846320" cy="685800"/>
          </a:xfrm>
          <a:prstGeom prst="roundRect">
            <a:avLst/>
          </a:prstGeom>
          <a:solidFill>
            <a:srgbClr val="EEF6F8"/>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84848" y="5376672"/>
            <a:ext cx="4389120" cy="256032"/>
          </a:xfrm>
          <a:prstGeom prst="rect">
            <a:avLst/>
          </a:prstGeom>
          <a:noFill/>
        </p:spPr>
        <p:txBody>
          <a:bodyPr wrap="none" lIns="27432" rIns="27432" tIns="27432" bIns="27432" anchor="t">
            <a:spAutoFit/>
          </a:bodyPr>
          <a:lstStyle/>
          <a:p>
            <a:pPr algn="ctr">
              <a:spcAft>
                <a:spcPts val="0"/>
              </a:spcAft>
            </a:pPr>
            <a:r>
              <a:rPr sz="1400" b="1" i="0">
                <a:solidFill>
                  <a:srgbClr val="0E7490"/>
                </a:solidFill>
                <a:latin typeface="Liberation Sans"/>
              </a:rPr>
              <a:t>Decision sequence: scale → geography → population → response</a:t>
            </a:r>
          </a:p>
        </p:txBody>
      </p:sp>
      <p:sp>
        <p:nvSpPr>
          <p:cNvPr id="22" name="TextBox 21"/>
          <p:cNvSpPr txBox="1"/>
          <p:nvPr/>
        </p:nvSpPr>
        <p:spPr>
          <a:xfrm>
            <a:off x="502920" y="6565392"/>
            <a:ext cx="9966960" cy="182880"/>
          </a:xfrm>
          <a:prstGeom prst="rect">
            <a:avLst/>
          </a:prstGeom>
          <a:noFill/>
        </p:spPr>
        <p:txBody>
          <a:bodyPr wrap="none" lIns="27432" rIns="27432" tIns="27432" bIns="27432" anchor="t">
            <a:spAutoFit/>
          </a:bodyPr>
          <a:lstStyle/>
          <a:p>
            <a:pPr algn="l">
              <a:spcAft>
                <a:spcPts val="0"/>
              </a:spcAft>
            </a:pPr>
            <a:r>
              <a:rPr sz="800" b="0" i="0">
                <a:solidFill>
                  <a:srgbClr val="64748B"/>
                </a:solidFill>
                <a:latin typeface="Liberation Sans"/>
              </a:rPr>
              <a:t>WHO-derived project snapshot; Global Tuberculosis Report 2025 context</a:t>
            </a:r>
          </a:p>
        </p:txBody>
      </p:sp>
      <p:sp>
        <p:nvSpPr>
          <p:cNvPr id="23" name="TextBox 22"/>
          <p:cNvSpPr txBox="1"/>
          <p:nvPr/>
        </p:nvSpPr>
        <p:spPr>
          <a:xfrm>
            <a:off x="10241280" y="6565392"/>
            <a:ext cx="1417320" cy="182880"/>
          </a:xfrm>
          <a:prstGeom prst="rect">
            <a:avLst/>
          </a:prstGeom>
          <a:noFill/>
        </p:spPr>
        <p:txBody>
          <a:bodyPr wrap="none" lIns="27432" rIns="27432" tIns="27432" bIns="27432" anchor="t">
            <a:spAutoFit/>
          </a:bodyPr>
          <a:lstStyle/>
          <a:p>
            <a:pPr algn="r">
              <a:spcAft>
                <a:spcPts val="0"/>
              </a:spcAft>
            </a:pPr>
            <a:r>
              <a:rPr sz="800" b="0" i="0">
                <a:solidFill>
                  <a:srgbClr val="64748B"/>
                </a:solidFill>
                <a:latin typeface="Liberation Sans"/>
              </a:rPr>
              <a:t>MSBA382 · Healthcare Analytics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3657600" cy="256032"/>
          </a:xfrm>
          <a:prstGeom prst="rect">
            <a:avLst/>
          </a:prstGeom>
          <a:noFill/>
        </p:spPr>
        <p:txBody>
          <a:bodyPr wrap="none" lIns="27432" rIns="27432" tIns="27432" bIns="27432" anchor="t">
            <a:spAutoFit/>
          </a:bodyPr>
          <a:lstStyle/>
          <a:p>
            <a:pPr algn="l">
              <a:spcAft>
                <a:spcPts val="0"/>
              </a:spcAft>
            </a:pPr>
            <a:r>
              <a:rPr sz="1000" b="1" i="0">
                <a:solidFill>
                  <a:srgbClr val="0E7490"/>
                </a:solidFill>
                <a:latin typeface="Liberation Sans"/>
              </a:rPr>
              <a:t>DATA AND METHOD</a:t>
            </a:r>
          </a:p>
        </p:txBody>
      </p:sp>
      <p:sp>
        <p:nvSpPr>
          <p:cNvPr id="3" name="TextBox 2"/>
          <p:cNvSpPr txBox="1"/>
          <p:nvPr/>
        </p:nvSpPr>
        <p:spPr>
          <a:xfrm>
            <a:off x="502920" y="475488"/>
            <a:ext cx="10789920" cy="502920"/>
          </a:xfrm>
          <a:prstGeom prst="rect">
            <a:avLst/>
          </a:prstGeom>
          <a:noFill/>
        </p:spPr>
        <p:txBody>
          <a:bodyPr wrap="none" lIns="27432" rIns="27432" tIns="27432" bIns="27432" anchor="t">
            <a:spAutoFit/>
          </a:bodyPr>
          <a:lstStyle/>
          <a:p>
            <a:pPr algn="l">
              <a:spcAft>
                <a:spcPts val="0"/>
              </a:spcAft>
            </a:pPr>
            <a:r>
              <a:rPr sz="2600" b="1" i="0">
                <a:solidFill>
                  <a:srgbClr val="0B1F33"/>
                </a:solidFill>
                <a:latin typeface="Liberation Sans"/>
              </a:rPr>
              <a:t>A reproducible, decision-ready data pipeline</a:t>
            </a:r>
          </a:p>
        </p:txBody>
      </p:sp>
      <p:sp>
        <p:nvSpPr>
          <p:cNvPr id="4" name="Rectangle 3"/>
          <p:cNvSpPr/>
          <p:nvPr/>
        </p:nvSpPr>
        <p:spPr>
          <a:xfrm>
            <a:off x="502920" y="1024128"/>
            <a:ext cx="11155680" cy="228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1400" y="201168"/>
            <a:ext cx="457200" cy="228600"/>
          </a:xfrm>
          <a:prstGeom prst="rect">
            <a:avLst/>
          </a:prstGeom>
          <a:noFill/>
        </p:spPr>
        <p:txBody>
          <a:bodyPr wrap="none" lIns="27432" rIns="27432" tIns="27432" bIns="27432" anchor="t">
            <a:spAutoFit/>
          </a:bodyPr>
          <a:lstStyle/>
          <a:p>
            <a:pPr algn="r">
              <a:spcAft>
                <a:spcPts val="0"/>
              </a:spcAft>
            </a:pPr>
            <a:r>
              <a:rPr sz="1000" b="1" i="0">
                <a:solidFill>
                  <a:srgbClr val="64748B"/>
                </a:solidFill>
                <a:latin typeface="Liberation Sans"/>
              </a:rPr>
              <a:t>3/7</a:t>
            </a:r>
          </a:p>
        </p:txBody>
      </p:sp>
      <p:sp>
        <p:nvSpPr>
          <p:cNvPr id="6" name="Rounded Rectangle 5"/>
          <p:cNvSpPr/>
          <p:nvPr/>
        </p:nvSpPr>
        <p:spPr>
          <a:xfrm>
            <a:off x="594360" y="1389888"/>
            <a:ext cx="2487168" cy="1993392"/>
          </a:xfrm>
          <a:prstGeom prst="roundRect">
            <a:avLst/>
          </a:prstGeom>
          <a:solidFill>
            <a:srgbClr val="F7FAFC"/>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58952" y="1572768"/>
            <a:ext cx="475488" cy="475488"/>
          </a:xfrm>
          <a:prstGeom prst="ellipse">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645920"/>
            <a:ext cx="475488" cy="256032"/>
          </a:xfrm>
          <a:prstGeom prst="rect">
            <a:avLst/>
          </a:prstGeom>
          <a:noFill/>
        </p:spPr>
        <p:txBody>
          <a:bodyPr wrap="none" lIns="27432" rIns="27432" tIns="27432" bIns="27432" anchor="t">
            <a:spAutoFit/>
          </a:bodyPr>
          <a:lstStyle/>
          <a:p>
            <a:pPr algn="ctr">
              <a:spcAft>
                <a:spcPts val="0"/>
              </a:spcAft>
            </a:pPr>
            <a:r>
              <a:rPr sz="1600" b="1" i="0">
                <a:solidFill>
                  <a:srgbClr val="FFFFFF"/>
                </a:solidFill>
                <a:latin typeface="Liberation Sans"/>
              </a:rPr>
              <a:t>1</a:t>
            </a:r>
          </a:p>
        </p:txBody>
      </p:sp>
      <p:sp>
        <p:nvSpPr>
          <p:cNvPr id="9" name="TextBox 8"/>
          <p:cNvSpPr txBox="1"/>
          <p:nvPr/>
        </p:nvSpPr>
        <p:spPr>
          <a:xfrm>
            <a:off x="795528" y="2176272"/>
            <a:ext cx="2084831" cy="502920"/>
          </a:xfrm>
          <a:prstGeom prst="rect">
            <a:avLst/>
          </a:prstGeom>
          <a:noFill/>
        </p:spPr>
        <p:txBody>
          <a:bodyPr wrap="none" lIns="27432" rIns="27432" tIns="27432" bIns="27432" anchor="t">
            <a:spAutoFit/>
          </a:bodyPr>
          <a:lstStyle/>
          <a:p>
            <a:pPr algn="l">
              <a:spcAft>
                <a:spcPts val="0"/>
              </a:spcAft>
            </a:pPr>
            <a:r>
              <a:rPr sz="1700" b="1" i="0">
                <a:solidFill>
                  <a:srgbClr val="0B1F33"/>
                </a:solidFill>
                <a:latin typeface="Liberation Sans"/>
              </a:rPr>
              <a:t>WHO-derived public snapshots</a:t>
            </a:r>
          </a:p>
        </p:txBody>
      </p:sp>
      <p:sp>
        <p:nvSpPr>
          <p:cNvPr id="10" name="TextBox 9"/>
          <p:cNvSpPr txBox="1"/>
          <p:nvPr/>
        </p:nvSpPr>
        <p:spPr>
          <a:xfrm>
            <a:off x="795528" y="2743200"/>
            <a:ext cx="2057400" cy="502920"/>
          </a:xfrm>
          <a:prstGeom prst="rect">
            <a:avLst/>
          </a:prstGeom>
          <a:noFill/>
        </p:spPr>
        <p:txBody>
          <a:bodyPr wrap="none" lIns="27432" rIns="27432" tIns="27432" bIns="27432" anchor="t">
            <a:spAutoFit/>
          </a:bodyPr>
          <a:lstStyle/>
          <a:p>
            <a:pPr algn="l">
              <a:spcAft>
                <a:spcPts val="0"/>
              </a:spcAft>
            </a:pPr>
            <a:r>
              <a:rPr sz="1100" b="0" i="0">
                <a:solidFill>
                  <a:srgbClr val="64748B"/>
                </a:solidFill>
                <a:latin typeface="Liberation Sans"/>
              </a:rPr>
              <a:t>Burden, notifications, age/sex, TB–HIV, RR/MDR-TB</a:t>
            </a:r>
          </a:p>
        </p:txBody>
      </p:sp>
      <p:sp>
        <p:nvSpPr>
          <p:cNvPr id="11" name="TextBox 10"/>
          <p:cNvSpPr txBox="1"/>
          <p:nvPr/>
        </p:nvSpPr>
        <p:spPr>
          <a:xfrm>
            <a:off x="3136391" y="2240280"/>
            <a:ext cx="292608" cy="320040"/>
          </a:xfrm>
          <a:prstGeom prst="rect">
            <a:avLst/>
          </a:prstGeom>
          <a:noFill/>
        </p:spPr>
        <p:txBody>
          <a:bodyPr wrap="none" lIns="27432" rIns="27432" tIns="27432" bIns="27432" anchor="t">
            <a:spAutoFit/>
          </a:bodyPr>
          <a:lstStyle/>
          <a:p>
            <a:pPr algn="ctr">
              <a:spcAft>
                <a:spcPts val="0"/>
              </a:spcAft>
            </a:pPr>
            <a:r>
              <a:rPr sz="2400" b="1" i="0">
                <a:solidFill>
                  <a:srgbClr val="0E7490"/>
                </a:solidFill>
                <a:latin typeface="Liberation Sans"/>
              </a:rPr>
              <a:t>→</a:t>
            </a:r>
          </a:p>
        </p:txBody>
      </p:sp>
      <p:sp>
        <p:nvSpPr>
          <p:cNvPr id="12" name="Rounded Rectangle 11"/>
          <p:cNvSpPr/>
          <p:nvPr/>
        </p:nvSpPr>
        <p:spPr>
          <a:xfrm>
            <a:off x="3429000" y="1389888"/>
            <a:ext cx="2487168" cy="1993392"/>
          </a:xfrm>
          <a:prstGeom prst="roundRect">
            <a:avLst/>
          </a:prstGeom>
          <a:solidFill>
            <a:srgbClr val="F7FAFC"/>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93592" y="1572768"/>
            <a:ext cx="475488" cy="475488"/>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93592" y="1645920"/>
            <a:ext cx="475488" cy="256032"/>
          </a:xfrm>
          <a:prstGeom prst="rect">
            <a:avLst/>
          </a:prstGeom>
          <a:noFill/>
        </p:spPr>
        <p:txBody>
          <a:bodyPr wrap="none" lIns="27432" rIns="27432" tIns="27432" bIns="27432" anchor="t">
            <a:spAutoFit/>
          </a:bodyPr>
          <a:lstStyle/>
          <a:p>
            <a:pPr algn="ctr">
              <a:spcAft>
                <a:spcPts val="0"/>
              </a:spcAft>
            </a:pPr>
            <a:r>
              <a:rPr sz="1600" b="1" i="0">
                <a:solidFill>
                  <a:srgbClr val="FFFFFF"/>
                </a:solidFill>
                <a:latin typeface="Liberation Sans"/>
              </a:rPr>
              <a:t>2</a:t>
            </a:r>
          </a:p>
        </p:txBody>
      </p:sp>
      <p:sp>
        <p:nvSpPr>
          <p:cNvPr id="15" name="TextBox 14"/>
          <p:cNvSpPr txBox="1"/>
          <p:nvPr/>
        </p:nvSpPr>
        <p:spPr>
          <a:xfrm>
            <a:off x="3630168" y="2176272"/>
            <a:ext cx="2084831" cy="502920"/>
          </a:xfrm>
          <a:prstGeom prst="rect">
            <a:avLst/>
          </a:prstGeom>
          <a:noFill/>
        </p:spPr>
        <p:txBody>
          <a:bodyPr wrap="none" lIns="27432" rIns="27432" tIns="27432" bIns="27432" anchor="t">
            <a:spAutoFit/>
          </a:bodyPr>
          <a:lstStyle/>
          <a:p>
            <a:pPr algn="l">
              <a:spcAft>
                <a:spcPts val="0"/>
              </a:spcAft>
            </a:pPr>
            <a:r>
              <a:rPr sz="1700" b="1" i="0">
                <a:solidFill>
                  <a:srgbClr val="0B1F33"/>
                </a:solidFill>
                <a:latin typeface="Liberation Sans"/>
              </a:rPr>
              <a:t>Clean and integrate</a:t>
            </a:r>
          </a:p>
        </p:txBody>
      </p:sp>
      <p:sp>
        <p:nvSpPr>
          <p:cNvPr id="16" name="TextBox 15"/>
          <p:cNvSpPr txBox="1"/>
          <p:nvPr/>
        </p:nvSpPr>
        <p:spPr>
          <a:xfrm>
            <a:off x="3630168" y="2743200"/>
            <a:ext cx="2057400" cy="502920"/>
          </a:xfrm>
          <a:prstGeom prst="rect">
            <a:avLst/>
          </a:prstGeom>
          <a:noFill/>
        </p:spPr>
        <p:txBody>
          <a:bodyPr wrap="none" lIns="27432" rIns="27432" tIns="27432" bIns="27432" anchor="t">
            <a:spAutoFit/>
          </a:bodyPr>
          <a:lstStyle/>
          <a:p>
            <a:pPr algn="l">
              <a:spcAft>
                <a:spcPts val="0"/>
              </a:spcAft>
            </a:pPr>
            <a:r>
              <a:rPr sz="1100" b="0" i="0">
                <a:solidFill>
                  <a:srgbClr val="64748B"/>
                </a:solidFill>
                <a:latin typeface="Liberation Sans"/>
              </a:rPr>
              <a:t>Standardize ISO codes, country names, years and numeric fields</a:t>
            </a:r>
          </a:p>
        </p:txBody>
      </p:sp>
      <p:sp>
        <p:nvSpPr>
          <p:cNvPr id="17" name="TextBox 16"/>
          <p:cNvSpPr txBox="1"/>
          <p:nvPr/>
        </p:nvSpPr>
        <p:spPr>
          <a:xfrm>
            <a:off x="5971031" y="2240280"/>
            <a:ext cx="292608" cy="320040"/>
          </a:xfrm>
          <a:prstGeom prst="rect">
            <a:avLst/>
          </a:prstGeom>
          <a:noFill/>
        </p:spPr>
        <p:txBody>
          <a:bodyPr wrap="none" lIns="27432" rIns="27432" tIns="27432" bIns="27432" anchor="t">
            <a:spAutoFit/>
          </a:bodyPr>
          <a:lstStyle/>
          <a:p>
            <a:pPr algn="ctr">
              <a:spcAft>
                <a:spcPts val="0"/>
              </a:spcAft>
            </a:pPr>
            <a:r>
              <a:rPr sz="2400" b="1" i="0">
                <a:solidFill>
                  <a:srgbClr val="0E7490"/>
                </a:solidFill>
                <a:latin typeface="Liberation Sans"/>
              </a:rPr>
              <a:t>→</a:t>
            </a:r>
          </a:p>
        </p:txBody>
      </p:sp>
      <p:sp>
        <p:nvSpPr>
          <p:cNvPr id="18" name="Rounded Rectangle 17"/>
          <p:cNvSpPr/>
          <p:nvPr/>
        </p:nvSpPr>
        <p:spPr>
          <a:xfrm>
            <a:off x="6263640" y="1389888"/>
            <a:ext cx="2487168" cy="1993392"/>
          </a:xfrm>
          <a:prstGeom prst="roundRect">
            <a:avLst/>
          </a:prstGeom>
          <a:solidFill>
            <a:srgbClr val="F7FAFC"/>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28231" y="1572768"/>
            <a:ext cx="475488" cy="47548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1" y="1645920"/>
            <a:ext cx="475488" cy="256032"/>
          </a:xfrm>
          <a:prstGeom prst="rect">
            <a:avLst/>
          </a:prstGeom>
          <a:noFill/>
        </p:spPr>
        <p:txBody>
          <a:bodyPr wrap="none" lIns="27432" rIns="27432" tIns="27432" bIns="27432" anchor="t">
            <a:spAutoFit/>
          </a:bodyPr>
          <a:lstStyle/>
          <a:p>
            <a:pPr algn="ctr">
              <a:spcAft>
                <a:spcPts val="0"/>
              </a:spcAft>
            </a:pPr>
            <a:r>
              <a:rPr sz="1600" b="1" i="0">
                <a:solidFill>
                  <a:srgbClr val="FFFFFF"/>
                </a:solidFill>
                <a:latin typeface="Liberation Sans"/>
              </a:rPr>
              <a:t>3</a:t>
            </a:r>
          </a:p>
        </p:txBody>
      </p:sp>
      <p:sp>
        <p:nvSpPr>
          <p:cNvPr id="21" name="TextBox 20"/>
          <p:cNvSpPr txBox="1"/>
          <p:nvPr/>
        </p:nvSpPr>
        <p:spPr>
          <a:xfrm>
            <a:off x="6464807" y="2176272"/>
            <a:ext cx="2084831" cy="502920"/>
          </a:xfrm>
          <a:prstGeom prst="rect">
            <a:avLst/>
          </a:prstGeom>
          <a:noFill/>
        </p:spPr>
        <p:txBody>
          <a:bodyPr wrap="none" lIns="27432" rIns="27432" tIns="27432" bIns="27432" anchor="t">
            <a:spAutoFit/>
          </a:bodyPr>
          <a:lstStyle/>
          <a:p>
            <a:pPr algn="l">
              <a:spcAft>
                <a:spcPts val="0"/>
              </a:spcAft>
            </a:pPr>
            <a:r>
              <a:rPr sz="1700" b="1" i="0">
                <a:solidFill>
                  <a:srgbClr val="0B1F33"/>
                </a:solidFill>
                <a:latin typeface="Liberation Sans"/>
              </a:rPr>
              <a:t>Validate and derive</a:t>
            </a:r>
          </a:p>
        </p:txBody>
      </p:sp>
      <p:sp>
        <p:nvSpPr>
          <p:cNvPr id="22" name="TextBox 21"/>
          <p:cNvSpPr txBox="1"/>
          <p:nvPr/>
        </p:nvSpPr>
        <p:spPr>
          <a:xfrm>
            <a:off x="6464807" y="2743200"/>
            <a:ext cx="2057400" cy="502920"/>
          </a:xfrm>
          <a:prstGeom prst="rect">
            <a:avLst/>
          </a:prstGeom>
          <a:noFill/>
        </p:spPr>
        <p:txBody>
          <a:bodyPr wrap="none" lIns="27432" rIns="27432" tIns="27432" bIns="27432" anchor="t">
            <a:spAutoFit/>
          </a:bodyPr>
          <a:lstStyle/>
          <a:p>
            <a:pPr algn="l">
              <a:spcAft>
                <a:spcPts val="0"/>
              </a:spcAft>
            </a:pPr>
            <a:r>
              <a:rPr sz="1100" b="0" i="0">
                <a:solidFill>
                  <a:srgbClr val="64748B"/>
                </a:solidFill>
                <a:latin typeface="Liberation Sans"/>
              </a:rPr>
              <a:t>Unique country-year checks; rates, coverage, gaps and shares</a:t>
            </a:r>
          </a:p>
        </p:txBody>
      </p:sp>
      <p:sp>
        <p:nvSpPr>
          <p:cNvPr id="23" name="TextBox 22"/>
          <p:cNvSpPr txBox="1"/>
          <p:nvPr/>
        </p:nvSpPr>
        <p:spPr>
          <a:xfrm>
            <a:off x="8805672" y="2240280"/>
            <a:ext cx="292608" cy="320040"/>
          </a:xfrm>
          <a:prstGeom prst="rect">
            <a:avLst/>
          </a:prstGeom>
          <a:noFill/>
        </p:spPr>
        <p:txBody>
          <a:bodyPr wrap="none" lIns="27432" rIns="27432" tIns="27432" bIns="27432" anchor="t">
            <a:spAutoFit/>
          </a:bodyPr>
          <a:lstStyle/>
          <a:p>
            <a:pPr algn="ctr">
              <a:spcAft>
                <a:spcPts val="0"/>
              </a:spcAft>
            </a:pPr>
            <a:r>
              <a:rPr sz="2400" b="1" i="0">
                <a:solidFill>
                  <a:srgbClr val="0E7490"/>
                </a:solidFill>
                <a:latin typeface="Liberation Sans"/>
              </a:rPr>
              <a:t>→</a:t>
            </a:r>
          </a:p>
        </p:txBody>
      </p:sp>
      <p:sp>
        <p:nvSpPr>
          <p:cNvPr id="24" name="Rounded Rectangle 23"/>
          <p:cNvSpPr/>
          <p:nvPr/>
        </p:nvSpPr>
        <p:spPr>
          <a:xfrm>
            <a:off x="9098280" y="1389888"/>
            <a:ext cx="2487168" cy="1993392"/>
          </a:xfrm>
          <a:prstGeom prst="roundRect">
            <a:avLst/>
          </a:prstGeom>
          <a:solidFill>
            <a:srgbClr val="F7FAFC"/>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62872" y="1572768"/>
            <a:ext cx="475488" cy="475488"/>
          </a:xfrm>
          <a:prstGeom prst="ellipse">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62872" y="1645920"/>
            <a:ext cx="475488" cy="256032"/>
          </a:xfrm>
          <a:prstGeom prst="rect">
            <a:avLst/>
          </a:prstGeom>
          <a:noFill/>
        </p:spPr>
        <p:txBody>
          <a:bodyPr wrap="none" lIns="27432" rIns="27432" tIns="27432" bIns="27432" anchor="t">
            <a:spAutoFit/>
          </a:bodyPr>
          <a:lstStyle/>
          <a:p>
            <a:pPr algn="ctr">
              <a:spcAft>
                <a:spcPts val="0"/>
              </a:spcAft>
            </a:pPr>
            <a:r>
              <a:rPr sz="1600" b="1" i="0">
                <a:solidFill>
                  <a:srgbClr val="FFFFFF"/>
                </a:solidFill>
                <a:latin typeface="Liberation Sans"/>
              </a:rPr>
              <a:t>4</a:t>
            </a:r>
          </a:p>
        </p:txBody>
      </p:sp>
      <p:sp>
        <p:nvSpPr>
          <p:cNvPr id="27" name="TextBox 26"/>
          <p:cNvSpPr txBox="1"/>
          <p:nvPr/>
        </p:nvSpPr>
        <p:spPr>
          <a:xfrm>
            <a:off x="9299448" y="2176272"/>
            <a:ext cx="2084831" cy="502920"/>
          </a:xfrm>
          <a:prstGeom prst="rect">
            <a:avLst/>
          </a:prstGeom>
          <a:noFill/>
        </p:spPr>
        <p:txBody>
          <a:bodyPr wrap="none" lIns="27432" rIns="27432" tIns="27432" bIns="27432" anchor="t">
            <a:spAutoFit/>
          </a:bodyPr>
          <a:lstStyle/>
          <a:p>
            <a:pPr algn="l">
              <a:spcAft>
                <a:spcPts val="0"/>
              </a:spcAft>
            </a:pPr>
            <a:r>
              <a:rPr sz="1700" b="1" i="0">
                <a:solidFill>
                  <a:srgbClr val="0B1F33"/>
                </a:solidFill>
                <a:latin typeface="Liberation Sans"/>
              </a:rPr>
              <a:t>Publish in Streamlit</a:t>
            </a:r>
          </a:p>
        </p:txBody>
      </p:sp>
      <p:sp>
        <p:nvSpPr>
          <p:cNvPr id="28" name="TextBox 27"/>
          <p:cNvSpPr txBox="1"/>
          <p:nvPr/>
        </p:nvSpPr>
        <p:spPr>
          <a:xfrm>
            <a:off x="9299448" y="2743200"/>
            <a:ext cx="2057400" cy="502920"/>
          </a:xfrm>
          <a:prstGeom prst="rect">
            <a:avLst/>
          </a:prstGeom>
          <a:noFill/>
        </p:spPr>
        <p:txBody>
          <a:bodyPr wrap="none" lIns="27432" rIns="27432" tIns="27432" bIns="27432" anchor="t">
            <a:spAutoFit/>
          </a:bodyPr>
          <a:lstStyle/>
          <a:p>
            <a:pPr algn="l">
              <a:spcAft>
                <a:spcPts val="0"/>
              </a:spcAft>
            </a:pPr>
            <a:r>
              <a:rPr sz="1100" b="0" i="0">
                <a:solidFill>
                  <a:srgbClr val="64748B"/>
                </a:solidFill>
                <a:latin typeface="Liberation Sans"/>
              </a:rPr>
              <a:t>Filters, maps, trends, demographics, downloads and forecast</a:t>
            </a:r>
          </a:p>
        </p:txBody>
      </p:sp>
      <p:sp>
        <p:nvSpPr>
          <p:cNvPr id="29" name="Rounded Rectangle 28"/>
          <p:cNvSpPr/>
          <p:nvPr/>
        </p:nvSpPr>
        <p:spPr>
          <a:xfrm>
            <a:off x="685800" y="3822191"/>
            <a:ext cx="2487168" cy="960120"/>
          </a:xfrm>
          <a:prstGeom prst="roundRect">
            <a:avLst/>
          </a:prstGeom>
          <a:solidFill>
            <a:srgbClr val="EEF6F8"/>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392" y="3968496"/>
            <a:ext cx="841248" cy="365760"/>
          </a:xfrm>
          <a:prstGeom prst="rect">
            <a:avLst/>
          </a:prstGeom>
          <a:noFill/>
        </p:spPr>
        <p:txBody>
          <a:bodyPr wrap="none" lIns="27432" rIns="27432" tIns="27432" bIns="27432" anchor="t">
            <a:spAutoFit/>
          </a:bodyPr>
          <a:lstStyle/>
          <a:p>
            <a:pPr algn="l">
              <a:spcAft>
                <a:spcPts val="0"/>
              </a:spcAft>
            </a:pPr>
            <a:r>
              <a:rPr sz="2500" b="1" i="0">
                <a:solidFill>
                  <a:srgbClr val="0E7490"/>
                </a:solidFill>
                <a:latin typeface="Liberation Sans"/>
              </a:rPr>
              <a:t>5.3K</a:t>
            </a:r>
          </a:p>
        </p:txBody>
      </p:sp>
      <p:sp>
        <p:nvSpPr>
          <p:cNvPr id="31" name="TextBox 30"/>
          <p:cNvSpPr txBox="1"/>
          <p:nvPr/>
        </p:nvSpPr>
        <p:spPr>
          <a:xfrm>
            <a:off x="1618488" y="4041648"/>
            <a:ext cx="1353312" cy="256032"/>
          </a:xfrm>
          <a:prstGeom prst="rect">
            <a:avLst/>
          </a:prstGeom>
          <a:noFill/>
        </p:spPr>
        <p:txBody>
          <a:bodyPr wrap="none" lIns="27432" rIns="27432" tIns="27432" bIns="27432" anchor="t">
            <a:spAutoFit/>
          </a:bodyPr>
          <a:lstStyle/>
          <a:p>
            <a:pPr algn="l">
              <a:spcAft>
                <a:spcPts val="0"/>
              </a:spcAft>
            </a:pPr>
            <a:r>
              <a:rPr sz="1200" b="1" i="0">
                <a:solidFill>
                  <a:srgbClr val="0B1F33"/>
                </a:solidFill>
                <a:latin typeface="Liberation Sans"/>
              </a:rPr>
              <a:t>country-year rows</a:t>
            </a:r>
          </a:p>
        </p:txBody>
      </p:sp>
      <p:sp>
        <p:nvSpPr>
          <p:cNvPr id="32" name="Rounded Rectangle 31"/>
          <p:cNvSpPr/>
          <p:nvPr/>
        </p:nvSpPr>
        <p:spPr>
          <a:xfrm>
            <a:off x="3502152" y="3822191"/>
            <a:ext cx="2487168" cy="960120"/>
          </a:xfrm>
          <a:prstGeom prst="roundRect">
            <a:avLst/>
          </a:prstGeom>
          <a:solidFill>
            <a:srgbClr val="EEF6F8"/>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66744" y="3968496"/>
            <a:ext cx="841248" cy="365760"/>
          </a:xfrm>
          <a:prstGeom prst="rect">
            <a:avLst/>
          </a:prstGeom>
          <a:noFill/>
        </p:spPr>
        <p:txBody>
          <a:bodyPr wrap="none" lIns="27432" rIns="27432" tIns="27432" bIns="27432" anchor="t">
            <a:spAutoFit/>
          </a:bodyPr>
          <a:lstStyle/>
          <a:p>
            <a:pPr algn="l">
              <a:spcAft>
                <a:spcPts val="0"/>
              </a:spcAft>
            </a:pPr>
            <a:r>
              <a:rPr sz="2500" b="1" i="0">
                <a:solidFill>
                  <a:srgbClr val="0E7490"/>
                </a:solidFill>
                <a:latin typeface="Liberation Sans"/>
              </a:rPr>
              <a:t>217</a:t>
            </a:r>
          </a:p>
        </p:txBody>
      </p:sp>
      <p:sp>
        <p:nvSpPr>
          <p:cNvPr id="34" name="TextBox 33"/>
          <p:cNvSpPr txBox="1"/>
          <p:nvPr/>
        </p:nvSpPr>
        <p:spPr>
          <a:xfrm>
            <a:off x="4434840" y="4041648"/>
            <a:ext cx="1353312" cy="256032"/>
          </a:xfrm>
          <a:prstGeom prst="rect">
            <a:avLst/>
          </a:prstGeom>
          <a:noFill/>
        </p:spPr>
        <p:txBody>
          <a:bodyPr wrap="none" lIns="27432" rIns="27432" tIns="27432" bIns="27432" anchor="t">
            <a:spAutoFit/>
          </a:bodyPr>
          <a:lstStyle/>
          <a:p>
            <a:pPr algn="l">
              <a:spcAft>
                <a:spcPts val="0"/>
              </a:spcAft>
            </a:pPr>
            <a:r>
              <a:rPr sz="1200" b="1" i="0">
                <a:solidFill>
                  <a:srgbClr val="0B1F33"/>
                </a:solidFill>
                <a:latin typeface="Liberation Sans"/>
              </a:rPr>
              <a:t>countries / territories</a:t>
            </a:r>
          </a:p>
        </p:txBody>
      </p:sp>
      <p:sp>
        <p:nvSpPr>
          <p:cNvPr id="35" name="Rounded Rectangle 34"/>
          <p:cNvSpPr/>
          <p:nvPr/>
        </p:nvSpPr>
        <p:spPr>
          <a:xfrm>
            <a:off x="6318504" y="3822191"/>
            <a:ext cx="2487168" cy="960120"/>
          </a:xfrm>
          <a:prstGeom prst="roundRect">
            <a:avLst/>
          </a:prstGeom>
          <a:solidFill>
            <a:srgbClr val="EEF6F8"/>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83096" y="3968496"/>
            <a:ext cx="841248" cy="365760"/>
          </a:xfrm>
          <a:prstGeom prst="rect">
            <a:avLst/>
          </a:prstGeom>
          <a:noFill/>
        </p:spPr>
        <p:txBody>
          <a:bodyPr wrap="none" lIns="27432" rIns="27432" tIns="27432" bIns="27432" anchor="t">
            <a:spAutoFit/>
          </a:bodyPr>
          <a:lstStyle/>
          <a:p>
            <a:pPr algn="l">
              <a:spcAft>
                <a:spcPts val="0"/>
              </a:spcAft>
            </a:pPr>
            <a:r>
              <a:rPr sz="2500" b="1" i="0">
                <a:solidFill>
                  <a:srgbClr val="0E7490"/>
                </a:solidFill>
                <a:latin typeface="Liberation Sans"/>
              </a:rPr>
              <a:t>25</a:t>
            </a:r>
          </a:p>
        </p:txBody>
      </p:sp>
      <p:sp>
        <p:nvSpPr>
          <p:cNvPr id="37" name="TextBox 36"/>
          <p:cNvSpPr txBox="1"/>
          <p:nvPr/>
        </p:nvSpPr>
        <p:spPr>
          <a:xfrm>
            <a:off x="7251192" y="4041648"/>
            <a:ext cx="1353312" cy="256032"/>
          </a:xfrm>
          <a:prstGeom prst="rect">
            <a:avLst/>
          </a:prstGeom>
          <a:noFill/>
        </p:spPr>
        <p:txBody>
          <a:bodyPr wrap="none" lIns="27432" rIns="27432" tIns="27432" bIns="27432" anchor="t">
            <a:spAutoFit/>
          </a:bodyPr>
          <a:lstStyle/>
          <a:p>
            <a:pPr algn="l">
              <a:spcAft>
                <a:spcPts val="0"/>
              </a:spcAft>
            </a:pPr>
            <a:r>
              <a:rPr sz="1200" b="1" i="0">
                <a:solidFill>
                  <a:srgbClr val="0B1F33"/>
                </a:solidFill>
                <a:latin typeface="Liberation Sans"/>
              </a:rPr>
              <a:t>years: 2000–2024</a:t>
            </a:r>
          </a:p>
        </p:txBody>
      </p:sp>
      <p:sp>
        <p:nvSpPr>
          <p:cNvPr id="38" name="Rounded Rectangle 37"/>
          <p:cNvSpPr/>
          <p:nvPr/>
        </p:nvSpPr>
        <p:spPr>
          <a:xfrm>
            <a:off x="9134856" y="3822191"/>
            <a:ext cx="2487168" cy="960120"/>
          </a:xfrm>
          <a:prstGeom prst="roundRect">
            <a:avLst/>
          </a:prstGeom>
          <a:solidFill>
            <a:srgbClr val="EEF6F8"/>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99448" y="3968496"/>
            <a:ext cx="841248" cy="365760"/>
          </a:xfrm>
          <a:prstGeom prst="rect">
            <a:avLst/>
          </a:prstGeom>
          <a:noFill/>
        </p:spPr>
        <p:txBody>
          <a:bodyPr wrap="none" lIns="27432" rIns="27432" tIns="27432" bIns="27432" anchor="t">
            <a:spAutoFit/>
          </a:bodyPr>
          <a:lstStyle/>
          <a:p>
            <a:pPr algn="l">
              <a:spcAft>
                <a:spcPts val="0"/>
              </a:spcAft>
            </a:pPr>
            <a:r>
              <a:rPr sz="2500" b="1" i="0">
                <a:solidFill>
                  <a:srgbClr val="0E7490"/>
                </a:solidFill>
                <a:latin typeface="Liberation Sans"/>
              </a:rPr>
              <a:t>6</a:t>
            </a:r>
          </a:p>
        </p:txBody>
      </p:sp>
      <p:sp>
        <p:nvSpPr>
          <p:cNvPr id="40" name="TextBox 39"/>
          <p:cNvSpPr txBox="1"/>
          <p:nvPr/>
        </p:nvSpPr>
        <p:spPr>
          <a:xfrm>
            <a:off x="10067544" y="4041648"/>
            <a:ext cx="1353312" cy="256032"/>
          </a:xfrm>
          <a:prstGeom prst="rect">
            <a:avLst/>
          </a:prstGeom>
          <a:noFill/>
        </p:spPr>
        <p:txBody>
          <a:bodyPr wrap="none" lIns="27432" rIns="27432" tIns="27432" bIns="27432" anchor="t">
            <a:spAutoFit/>
          </a:bodyPr>
          <a:lstStyle/>
          <a:p>
            <a:pPr algn="l">
              <a:spcAft>
                <a:spcPts val="0"/>
              </a:spcAft>
            </a:pPr>
            <a:r>
              <a:rPr sz="1200" b="1" i="0">
                <a:solidFill>
                  <a:srgbClr val="0B1F33"/>
                </a:solidFill>
                <a:latin typeface="Liberation Sans"/>
              </a:rPr>
              <a:t>WHO regions</a:t>
            </a:r>
          </a:p>
        </p:txBody>
      </p:sp>
      <p:sp>
        <p:nvSpPr>
          <p:cNvPr id="41" name="Rounded Rectangle 40"/>
          <p:cNvSpPr/>
          <p:nvPr/>
        </p:nvSpPr>
        <p:spPr>
          <a:xfrm>
            <a:off x="685800" y="5138928"/>
            <a:ext cx="10808208" cy="777240"/>
          </a:xfrm>
          <a:prstGeom prst="roundRect">
            <a:avLst/>
          </a:prstGeom>
          <a:solidFill>
            <a:srgbClr val="FFF6ED"/>
          </a:solidFill>
          <a:ln w="12700">
            <a:solidFill>
              <a:srgbClr val="F2D7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2688" y="5321808"/>
            <a:ext cx="1920240" cy="256032"/>
          </a:xfrm>
          <a:prstGeom prst="rect">
            <a:avLst/>
          </a:prstGeom>
          <a:noFill/>
        </p:spPr>
        <p:txBody>
          <a:bodyPr wrap="none" lIns="27432" rIns="27432" tIns="27432" bIns="27432" anchor="t">
            <a:spAutoFit/>
          </a:bodyPr>
          <a:lstStyle/>
          <a:p>
            <a:pPr algn="l">
              <a:spcAft>
                <a:spcPts val="0"/>
              </a:spcAft>
            </a:pPr>
            <a:r>
              <a:rPr sz="1400" b="1" i="0">
                <a:solidFill>
                  <a:srgbClr val="E76F51"/>
                </a:solidFill>
                <a:latin typeface="Liberation Sans"/>
              </a:rPr>
              <a:t>Methodological guardrail</a:t>
            </a:r>
          </a:p>
        </p:txBody>
      </p:sp>
      <p:sp>
        <p:nvSpPr>
          <p:cNvPr id="43" name="TextBox 42"/>
          <p:cNvSpPr txBox="1"/>
          <p:nvPr/>
        </p:nvSpPr>
        <p:spPr>
          <a:xfrm>
            <a:off x="2788920" y="5303520"/>
            <a:ext cx="8321040" cy="347472"/>
          </a:xfrm>
          <a:prstGeom prst="rect">
            <a:avLst/>
          </a:prstGeom>
          <a:noFill/>
        </p:spPr>
        <p:txBody>
          <a:bodyPr wrap="none" lIns="27432" rIns="27432" tIns="27432" bIns="27432" anchor="t">
            <a:spAutoFit/>
          </a:bodyPr>
          <a:lstStyle/>
          <a:p>
            <a:pPr algn="l">
              <a:spcAft>
                <a:spcPts val="0"/>
              </a:spcAft>
            </a:pPr>
            <a:r>
              <a:rPr sz="1300" b="0" i="0">
                <a:solidFill>
                  <a:srgbClr val="0B1F33"/>
                </a:solidFill>
                <a:latin typeface="Liberation Sans"/>
              </a:rPr>
              <a:t>Country-level aggregates can differ slightly from WHO’s rounded report headlines; the latest WHO time series supersedes earlier releases.</a:t>
            </a:r>
          </a:p>
        </p:txBody>
      </p:sp>
      <p:sp>
        <p:nvSpPr>
          <p:cNvPr id="44" name="TextBox 43"/>
          <p:cNvSpPr txBox="1"/>
          <p:nvPr/>
        </p:nvSpPr>
        <p:spPr>
          <a:xfrm>
            <a:off x="502920" y="6565392"/>
            <a:ext cx="9966960" cy="182880"/>
          </a:xfrm>
          <a:prstGeom prst="rect">
            <a:avLst/>
          </a:prstGeom>
          <a:noFill/>
        </p:spPr>
        <p:txBody>
          <a:bodyPr wrap="none" lIns="27432" rIns="27432" tIns="27432" bIns="27432" anchor="t">
            <a:spAutoFit/>
          </a:bodyPr>
          <a:lstStyle/>
          <a:p>
            <a:pPr algn="l">
              <a:spcAft>
                <a:spcPts val="0"/>
              </a:spcAft>
            </a:pPr>
            <a:r>
              <a:rPr sz="800" b="0" i="0">
                <a:solidFill>
                  <a:srgbClr val="64748B"/>
                </a:solidFill>
                <a:latin typeface="Liberation Sans"/>
              </a:rPr>
              <a:t>WHO TB data; GTB-TME official repository; reproducible project manifest and hashes</a:t>
            </a:r>
          </a:p>
        </p:txBody>
      </p:sp>
      <p:sp>
        <p:nvSpPr>
          <p:cNvPr id="45" name="TextBox 44"/>
          <p:cNvSpPr txBox="1"/>
          <p:nvPr/>
        </p:nvSpPr>
        <p:spPr>
          <a:xfrm>
            <a:off x="10241280" y="6565392"/>
            <a:ext cx="1417320" cy="182880"/>
          </a:xfrm>
          <a:prstGeom prst="rect">
            <a:avLst/>
          </a:prstGeom>
          <a:noFill/>
        </p:spPr>
        <p:txBody>
          <a:bodyPr wrap="none" lIns="27432" rIns="27432" tIns="27432" bIns="27432" anchor="t">
            <a:spAutoFit/>
          </a:bodyPr>
          <a:lstStyle/>
          <a:p>
            <a:pPr algn="r">
              <a:spcAft>
                <a:spcPts val="0"/>
              </a:spcAft>
            </a:pPr>
            <a:r>
              <a:rPr sz="800" b="0" i="0">
                <a:solidFill>
                  <a:srgbClr val="64748B"/>
                </a:solidFill>
                <a:latin typeface="Liberation Sans"/>
              </a:rPr>
              <a:t>MSBA382 · Healthcare Analytics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3657600" cy="256032"/>
          </a:xfrm>
          <a:prstGeom prst="rect">
            <a:avLst/>
          </a:prstGeom>
          <a:noFill/>
        </p:spPr>
        <p:txBody>
          <a:bodyPr wrap="none" lIns="27432" rIns="27432" tIns="27432" bIns="27432" anchor="t">
            <a:spAutoFit/>
          </a:bodyPr>
          <a:lstStyle/>
          <a:p>
            <a:pPr algn="l">
              <a:spcAft>
                <a:spcPts val="0"/>
              </a:spcAft>
            </a:pPr>
            <a:r>
              <a:rPr sz="1000" b="1" i="0">
                <a:solidFill>
                  <a:srgbClr val="0E7490"/>
                </a:solidFill>
                <a:latin typeface="Liberation Sans"/>
              </a:rPr>
              <a:t>CORE RESULT</a:t>
            </a:r>
          </a:p>
        </p:txBody>
      </p:sp>
      <p:sp>
        <p:nvSpPr>
          <p:cNvPr id="3" name="TextBox 2"/>
          <p:cNvSpPr txBox="1"/>
          <p:nvPr/>
        </p:nvSpPr>
        <p:spPr>
          <a:xfrm>
            <a:off x="502920" y="475488"/>
            <a:ext cx="10789920" cy="502920"/>
          </a:xfrm>
          <a:prstGeom prst="rect">
            <a:avLst/>
          </a:prstGeom>
          <a:noFill/>
        </p:spPr>
        <p:txBody>
          <a:bodyPr wrap="none" lIns="27432" rIns="27432" tIns="27432" bIns="27432" anchor="t">
            <a:spAutoFit/>
          </a:bodyPr>
          <a:lstStyle/>
          <a:p>
            <a:pPr algn="l">
              <a:spcAft>
                <a:spcPts val="0"/>
              </a:spcAft>
            </a:pPr>
            <a:r>
              <a:rPr sz="2600" b="1" i="0">
                <a:solidFill>
                  <a:srgbClr val="0B1F33"/>
                </a:solidFill>
                <a:latin typeface="Liberation Sans"/>
              </a:rPr>
              <a:t>Global progress is real — but the gap remains</a:t>
            </a:r>
          </a:p>
        </p:txBody>
      </p:sp>
      <p:sp>
        <p:nvSpPr>
          <p:cNvPr id="4" name="Rectangle 3"/>
          <p:cNvSpPr/>
          <p:nvPr/>
        </p:nvSpPr>
        <p:spPr>
          <a:xfrm>
            <a:off x="502920" y="1024128"/>
            <a:ext cx="11155680" cy="228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1400" y="201168"/>
            <a:ext cx="457200" cy="228600"/>
          </a:xfrm>
          <a:prstGeom prst="rect">
            <a:avLst/>
          </a:prstGeom>
          <a:noFill/>
        </p:spPr>
        <p:txBody>
          <a:bodyPr wrap="none" lIns="27432" rIns="27432" tIns="27432" bIns="27432" anchor="t">
            <a:spAutoFit/>
          </a:bodyPr>
          <a:lstStyle/>
          <a:p>
            <a:pPr algn="r">
              <a:spcAft>
                <a:spcPts val="0"/>
              </a:spcAft>
            </a:pPr>
            <a:r>
              <a:rPr sz="1000" b="1" i="0">
                <a:solidFill>
                  <a:srgbClr val="64748B"/>
                </a:solidFill>
                <a:latin typeface="Liberation Sans"/>
              </a:rPr>
              <a:t>4/7</a:t>
            </a:r>
          </a:p>
        </p:txBody>
      </p:sp>
      <p:sp>
        <p:nvSpPr>
          <p:cNvPr id="6" name="Rounded Rectangle 5"/>
          <p:cNvSpPr/>
          <p:nvPr/>
        </p:nvSpPr>
        <p:spPr>
          <a:xfrm>
            <a:off x="502920" y="1234440"/>
            <a:ext cx="7726679" cy="4983480"/>
          </a:xfrm>
          <a:prstGeom prst="roundRect">
            <a:avLst/>
          </a:prstGeom>
          <a:solidFill>
            <a:srgbClr val="FFFFFF"/>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lobal_burden_notifications.png"/>
          <p:cNvPicPr>
            <a:picLocks noChangeAspect="1"/>
          </p:cNvPicPr>
          <p:nvPr/>
        </p:nvPicPr>
        <p:blipFill>
          <a:blip r:embed="rId2"/>
          <a:stretch>
            <a:fillRect/>
          </a:stretch>
        </p:blipFill>
        <p:spPr>
          <a:xfrm>
            <a:off x="658368" y="1711177"/>
            <a:ext cx="7406640" cy="3993429"/>
          </a:xfrm>
          <a:prstGeom prst="rect">
            <a:avLst/>
          </a:prstGeom>
        </p:spPr>
      </p:pic>
      <p:sp>
        <p:nvSpPr>
          <p:cNvPr id="8" name="Rounded Rectangle 7"/>
          <p:cNvSpPr/>
          <p:nvPr/>
        </p:nvSpPr>
        <p:spPr>
          <a:xfrm>
            <a:off x="8458200" y="1353312"/>
            <a:ext cx="3127248" cy="1115568"/>
          </a:xfrm>
          <a:prstGeom prst="roundRect">
            <a:avLst/>
          </a:prstGeom>
          <a:solidFill>
            <a:srgbClr val="F7FAFC"/>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58200" y="1353312"/>
            <a:ext cx="73152" cy="1115568"/>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05088" y="1499616"/>
            <a:ext cx="2514600" cy="210312"/>
          </a:xfrm>
          <a:prstGeom prst="rect">
            <a:avLst/>
          </a:prstGeom>
          <a:noFill/>
        </p:spPr>
        <p:txBody>
          <a:bodyPr wrap="none" lIns="27432" rIns="27432" tIns="27432" bIns="27432" anchor="t">
            <a:spAutoFit/>
          </a:bodyPr>
          <a:lstStyle/>
          <a:p>
            <a:pPr algn="l">
              <a:spcAft>
                <a:spcPts val="0"/>
              </a:spcAft>
            </a:pPr>
            <a:r>
              <a:rPr sz="1000" b="1" i="0">
                <a:solidFill>
                  <a:srgbClr val="64748B"/>
                </a:solidFill>
                <a:latin typeface="Liberation Sans"/>
              </a:rPr>
              <a:t>2024 SNAPSHOT</a:t>
            </a:r>
          </a:p>
        </p:txBody>
      </p:sp>
      <p:sp>
        <p:nvSpPr>
          <p:cNvPr id="11" name="TextBox 10"/>
          <p:cNvSpPr txBox="1"/>
          <p:nvPr/>
        </p:nvSpPr>
        <p:spPr>
          <a:xfrm>
            <a:off x="8705088" y="1773936"/>
            <a:ext cx="2468880" cy="530352"/>
          </a:xfrm>
          <a:prstGeom prst="rect">
            <a:avLst/>
          </a:prstGeom>
          <a:noFill/>
        </p:spPr>
        <p:txBody>
          <a:bodyPr wrap="none" lIns="27432" rIns="27432" tIns="27432" bIns="27432" anchor="t">
            <a:spAutoFit/>
          </a:bodyPr>
          <a:lstStyle/>
          <a:p>
            <a:pPr algn="l">
              <a:spcAft>
                <a:spcPts val="0"/>
              </a:spcAft>
            </a:pPr>
            <a:r>
              <a:rPr sz="1900" b="1" i="0">
                <a:solidFill>
                  <a:srgbClr val="0B1F33"/>
                </a:solidFill>
                <a:latin typeface="Liberation Sans"/>
              </a:rPr>
              <a:t>10.55M estimated
8.33M notified</a:t>
            </a:r>
          </a:p>
        </p:txBody>
      </p:sp>
      <p:sp>
        <p:nvSpPr>
          <p:cNvPr id="12" name="Rounded Rectangle 11"/>
          <p:cNvSpPr/>
          <p:nvPr/>
        </p:nvSpPr>
        <p:spPr>
          <a:xfrm>
            <a:off x="8458200" y="2724912"/>
            <a:ext cx="3127248" cy="1115568"/>
          </a:xfrm>
          <a:prstGeom prst="roundRect">
            <a:avLst/>
          </a:prstGeom>
          <a:solidFill>
            <a:srgbClr val="F7FAFC"/>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458200" y="2724912"/>
            <a:ext cx="73152" cy="111556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5088" y="2871216"/>
            <a:ext cx="2514600" cy="210312"/>
          </a:xfrm>
          <a:prstGeom prst="rect">
            <a:avLst/>
          </a:prstGeom>
          <a:noFill/>
        </p:spPr>
        <p:txBody>
          <a:bodyPr wrap="none" lIns="27432" rIns="27432" tIns="27432" bIns="27432" anchor="t">
            <a:spAutoFit/>
          </a:bodyPr>
          <a:lstStyle/>
          <a:p>
            <a:pPr algn="l">
              <a:spcAft>
                <a:spcPts val="0"/>
              </a:spcAft>
            </a:pPr>
            <a:r>
              <a:rPr sz="1000" b="1" i="0">
                <a:solidFill>
                  <a:srgbClr val="64748B"/>
                </a:solidFill>
                <a:latin typeface="Liberation Sans"/>
              </a:rPr>
              <a:t>REMAINING SIGNAL</a:t>
            </a:r>
          </a:p>
        </p:txBody>
      </p:sp>
      <p:sp>
        <p:nvSpPr>
          <p:cNvPr id="15" name="TextBox 14"/>
          <p:cNvSpPr txBox="1"/>
          <p:nvPr/>
        </p:nvSpPr>
        <p:spPr>
          <a:xfrm>
            <a:off x="8705088" y="3145536"/>
            <a:ext cx="2468880" cy="530352"/>
          </a:xfrm>
          <a:prstGeom prst="rect">
            <a:avLst/>
          </a:prstGeom>
          <a:noFill/>
        </p:spPr>
        <p:txBody>
          <a:bodyPr wrap="none" lIns="27432" rIns="27432" tIns="27432" bIns="27432" anchor="t">
            <a:spAutoFit/>
          </a:bodyPr>
          <a:lstStyle/>
          <a:p>
            <a:pPr algn="l">
              <a:spcAft>
                <a:spcPts val="0"/>
              </a:spcAft>
            </a:pPr>
            <a:r>
              <a:rPr sz="1900" b="1" i="0">
                <a:solidFill>
                  <a:srgbClr val="0B1F33"/>
                </a:solidFill>
                <a:latin typeface="Liberation Sans"/>
              </a:rPr>
              <a:t>2.22M notification
difference</a:t>
            </a:r>
          </a:p>
        </p:txBody>
      </p:sp>
      <p:sp>
        <p:nvSpPr>
          <p:cNvPr id="16" name="Rounded Rectangle 15"/>
          <p:cNvSpPr/>
          <p:nvPr/>
        </p:nvSpPr>
        <p:spPr>
          <a:xfrm>
            <a:off x="8458200" y="4096512"/>
            <a:ext cx="3127248" cy="1115568"/>
          </a:xfrm>
          <a:prstGeom prst="roundRect">
            <a:avLst/>
          </a:prstGeom>
          <a:solidFill>
            <a:srgbClr val="F7FAFC"/>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58200" y="4096512"/>
            <a:ext cx="73152" cy="1115568"/>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05088" y="4242816"/>
            <a:ext cx="2514600" cy="210312"/>
          </a:xfrm>
          <a:prstGeom prst="rect">
            <a:avLst/>
          </a:prstGeom>
          <a:noFill/>
        </p:spPr>
        <p:txBody>
          <a:bodyPr wrap="none" lIns="27432" rIns="27432" tIns="27432" bIns="27432" anchor="t">
            <a:spAutoFit/>
          </a:bodyPr>
          <a:lstStyle/>
          <a:p>
            <a:pPr algn="l">
              <a:spcAft>
                <a:spcPts val="0"/>
              </a:spcAft>
            </a:pPr>
            <a:r>
              <a:rPr sz="1000" b="1" i="0">
                <a:solidFill>
                  <a:srgbClr val="64748B"/>
                </a:solidFill>
                <a:latin typeface="Liberation Sans"/>
              </a:rPr>
              <a:t>SYSTEM SHOCK</a:t>
            </a:r>
          </a:p>
        </p:txBody>
      </p:sp>
      <p:sp>
        <p:nvSpPr>
          <p:cNvPr id="19" name="TextBox 18"/>
          <p:cNvSpPr txBox="1"/>
          <p:nvPr/>
        </p:nvSpPr>
        <p:spPr>
          <a:xfrm>
            <a:off x="8705088" y="4517136"/>
            <a:ext cx="2468880" cy="530352"/>
          </a:xfrm>
          <a:prstGeom prst="rect">
            <a:avLst/>
          </a:prstGeom>
          <a:noFill/>
        </p:spPr>
        <p:txBody>
          <a:bodyPr wrap="none" lIns="27432" rIns="27432" tIns="27432" bIns="27432" anchor="t">
            <a:spAutoFit/>
          </a:bodyPr>
          <a:lstStyle/>
          <a:p>
            <a:pPr algn="l">
              <a:spcAft>
                <a:spcPts val="0"/>
              </a:spcAft>
            </a:pPr>
            <a:r>
              <a:rPr sz="1900" b="1" i="0">
                <a:solidFill>
                  <a:srgbClr val="0B1F33"/>
                </a:solidFill>
                <a:latin typeface="Liberation Sans"/>
              </a:rPr>
              <a:t>18.1% notification
fall in 2020</a:t>
            </a:r>
          </a:p>
        </p:txBody>
      </p:sp>
      <p:sp>
        <p:nvSpPr>
          <p:cNvPr id="20" name="Rounded Rectangle 19"/>
          <p:cNvSpPr/>
          <p:nvPr/>
        </p:nvSpPr>
        <p:spPr>
          <a:xfrm>
            <a:off x="8458200" y="5522976"/>
            <a:ext cx="3127248" cy="658368"/>
          </a:xfrm>
          <a:prstGeom prst="roundRect">
            <a:avLst/>
          </a:prstGeom>
          <a:solidFill>
            <a:srgbClr val="EEF6F8"/>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0" y="5687568"/>
            <a:ext cx="2670048" cy="292608"/>
          </a:xfrm>
          <a:prstGeom prst="rect">
            <a:avLst/>
          </a:prstGeom>
          <a:noFill/>
        </p:spPr>
        <p:txBody>
          <a:bodyPr wrap="none" lIns="27432" rIns="27432" tIns="27432" bIns="27432" anchor="t">
            <a:spAutoFit/>
          </a:bodyPr>
          <a:lstStyle/>
          <a:p>
            <a:pPr algn="ctr">
              <a:spcAft>
                <a:spcPts val="0"/>
              </a:spcAft>
            </a:pPr>
            <a:r>
              <a:rPr sz="1200" b="1" i="0">
                <a:solidFill>
                  <a:srgbClr val="0E7490"/>
                </a:solidFill>
                <a:latin typeface="Liberation Sans"/>
              </a:rPr>
              <a:t>The gap narrowed, but detection and linkage remain incomplete.</a:t>
            </a:r>
          </a:p>
        </p:txBody>
      </p:sp>
      <p:sp>
        <p:nvSpPr>
          <p:cNvPr id="22" name="TextBox 21"/>
          <p:cNvSpPr txBox="1"/>
          <p:nvPr/>
        </p:nvSpPr>
        <p:spPr>
          <a:xfrm>
            <a:off x="502920" y="6565392"/>
            <a:ext cx="9966960" cy="182880"/>
          </a:xfrm>
          <a:prstGeom prst="rect">
            <a:avLst/>
          </a:prstGeom>
          <a:noFill/>
        </p:spPr>
        <p:txBody>
          <a:bodyPr wrap="none" lIns="27432" rIns="27432" tIns="27432" bIns="27432" anchor="t">
            <a:spAutoFit/>
          </a:bodyPr>
          <a:lstStyle/>
          <a:p>
            <a:pPr algn="l">
              <a:spcAft>
                <a:spcPts val="0"/>
              </a:spcAft>
            </a:pPr>
            <a:r>
              <a:rPr sz="800" b="0" i="0">
                <a:solidFill>
                  <a:srgbClr val="64748B"/>
                </a:solidFill>
                <a:latin typeface="Liberation Sans"/>
              </a:rPr>
              <a:t>WHO-derived project snapshot; Global Tuberculosis Report 2025 context</a:t>
            </a:r>
          </a:p>
        </p:txBody>
      </p:sp>
      <p:sp>
        <p:nvSpPr>
          <p:cNvPr id="23" name="TextBox 22"/>
          <p:cNvSpPr txBox="1"/>
          <p:nvPr/>
        </p:nvSpPr>
        <p:spPr>
          <a:xfrm>
            <a:off x="10241280" y="6565392"/>
            <a:ext cx="1417320" cy="182880"/>
          </a:xfrm>
          <a:prstGeom prst="rect">
            <a:avLst/>
          </a:prstGeom>
          <a:noFill/>
        </p:spPr>
        <p:txBody>
          <a:bodyPr wrap="none" lIns="27432" rIns="27432" tIns="27432" bIns="27432" anchor="t">
            <a:spAutoFit/>
          </a:bodyPr>
          <a:lstStyle/>
          <a:p>
            <a:pPr algn="r">
              <a:spcAft>
                <a:spcPts val="0"/>
              </a:spcAft>
            </a:pPr>
            <a:r>
              <a:rPr sz="800" b="0" i="0">
                <a:solidFill>
                  <a:srgbClr val="64748B"/>
                </a:solidFill>
                <a:latin typeface="Liberation Sans"/>
              </a:rPr>
              <a:t>MSBA382 · Healthcare Analytics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3657600" cy="256032"/>
          </a:xfrm>
          <a:prstGeom prst="rect">
            <a:avLst/>
          </a:prstGeom>
          <a:noFill/>
        </p:spPr>
        <p:txBody>
          <a:bodyPr wrap="none" lIns="27432" rIns="27432" tIns="27432" bIns="27432" anchor="t">
            <a:spAutoFit/>
          </a:bodyPr>
          <a:lstStyle/>
          <a:p>
            <a:pPr algn="l">
              <a:spcAft>
                <a:spcPts val="0"/>
              </a:spcAft>
            </a:pPr>
            <a:r>
              <a:rPr sz="1000" b="1" i="0">
                <a:solidFill>
                  <a:srgbClr val="0E7490"/>
                </a:solidFill>
                <a:latin typeface="Liberation Sans"/>
              </a:rPr>
              <a:t>GEOGRAPHY AND GAPS</a:t>
            </a:r>
          </a:p>
        </p:txBody>
      </p:sp>
      <p:sp>
        <p:nvSpPr>
          <p:cNvPr id="3" name="TextBox 2"/>
          <p:cNvSpPr txBox="1"/>
          <p:nvPr/>
        </p:nvSpPr>
        <p:spPr>
          <a:xfrm>
            <a:off x="502920" y="475488"/>
            <a:ext cx="10789920" cy="502920"/>
          </a:xfrm>
          <a:prstGeom prst="rect">
            <a:avLst/>
          </a:prstGeom>
          <a:noFill/>
        </p:spPr>
        <p:txBody>
          <a:bodyPr wrap="none" lIns="27432" rIns="27432" tIns="27432" bIns="27432" anchor="t">
            <a:spAutoFit/>
          </a:bodyPr>
          <a:lstStyle/>
          <a:p>
            <a:pPr algn="l">
              <a:spcAft>
                <a:spcPts val="0"/>
              </a:spcAft>
            </a:pPr>
            <a:r>
              <a:rPr sz="2600" b="1" i="0">
                <a:solidFill>
                  <a:srgbClr val="0B1F33"/>
                </a:solidFill>
                <a:latin typeface="Liberation Sans"/>
              </a:rPr>
              <a:t>Priority depends on burden volume and service coverage</a:t>
            </a:r>
          </a:p>
        </p:txBody>
      </p:sp>
      <p:sp>
        <p:nvSpPr>
          <p:cNvPr id="4" name="Rectangle 3"/>
          <p:cNvSpPr/>
          <p:nvPr/>
        </p:nvSpPr>
        <p:spPr>
          <a:xfrm>
            <a:off x="502920" y="1024128"/>
            <a:ext cx="11155680" cy="228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1400" y="201168"/>
            <a:ext cx="457200" cy="228600"/>
          </a:xfrm>
          <a:prstGeom prst="rect">
            <a:avLst/>
          </a:prstGeom>
          <a:noFill/>
        </p:spPr>
        <p:txBody>
          <a:bodyPr wrap="none" lIns="27432" rIns="27432" tIns="27432" bIns="27432" anchor="t">
            <a:spAutoFit/>
          </a:bodyPr>
          <a:lstStyle/>
          <a:p>
            <a:pPr algn="r">
              <a:spcAft>
                <a:spcPts val="0"/>
              </a:spcAft>
            </a:pPr>
            <a:r>
              <a:rPr sz="1000" b="1" i="0">
                <a:solidFill>
                  <a:srgbClr val="64748B"/>
                </a:solidFill>
                <a:latin typeface="Liberation Sans"/>
              </a:rPr>
              <a:t>5/7</a:t>
            </a:r>
          </a:p>
        </p:txBody>
      </p:sp>
      <p:sp>
        <p:nvSpPr>
          <p:cNvPr id="6" name="Rounded Rectangle 5"/>
          <p:cNvSpPr/>
          <p:nvPr/>
        </p:nvSpPr>
        <p:spPr>
          <a:xfrm>
            <a:off x="502920" y="1234440"/>
            <a:ext cx="7772400" cy="5047488"/>
          </a:xfrm>
          <a:prstGeom prst="roundRect">
            <a:avLst/>
          </a:prstGeom>
          <a:solidFill>
            <a:srgbClr val="FFFFFF"/>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untry_notification_gaps_2024.png"/>
          <p:cNvPicPr>
            <a:picLocks noChangeAspect="1"/>
          </p:cNvPicPr>
          <p:nvPr/>
        </p:nvPicPr>
        <p:blipFill>
          <a:blip r:embed="rId2"/>
          <a:stretch>
            <a:fillRect/>
          </a:stretch>
        </p:blipFill>
        <p:spPr>
          <a:xfrm>
            <a:off x="658368" y="1646003"/>
            <a:ext cx="7452360" cy="4224361"/>
          </a:xfrm>
          <a:prstGeom prst="rect">
            <a:avLst/>
          </a:prstGeom>
        </p:spPr>
      </p:pic>
      <p:sp>
        <p:nvSpPr>
          <p:cNvPr id="8" name="Rounded Rectangle 7"/>
          <p:cNvSpPr/>
          <p:nvPr/>
        </p:nvSpPr>
        <p:spPr>
          <a:xfrm>
            <a:off x="8485632" y="1280160"/>
            <a:ext cx="3090672" cy="932688"/>
          </a:xfrm>
          <a:prstGeom prst="roundRect">
            <a:avLst/>
          </a:prstGeom>
          <a:solidFill>
            <a:srgbClr val="F7FAFC"/>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68512" y="1481328"/>
            <a:ext cx="310896" cy="310896"/>
          </a:xfrm>
          <a:prstGeom prst="ellipse">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280" y="1408176"/>
            <a:ext cx="2176272" cy="219456"/>
          </a:xfrm>
          <a:prstGeom prst="rect">
            <a:avLst/>
          </a:prstGeom>
          <a:noFill/>
        </p:spPr>
        <p:txBody>
          <a:bodyPr wrap="none" lIns="27432" rIns="27432" tIns="27432" bIns="27432" anchor="t">
            <a:spAutoFit/>
          </a:bodyPr>
          <a:lstStyle/>
          <a:p>
            <a:pPr algn="l">
              <a:spcAft>
                <a:spcPts val="0"/>
              </a:spcAft>
            </a:pPr>
            <a:r>
              <a:rPr sz="1000" b="1" i="0">
                <a:solidFill>
                  <a:srgbClr val="64748B"/>
                </a:solidFill>
                <a:latin typeface="Liberation Sans"/>
              </a:rPr>
              <a:t>Largest absolute difference</a:t>
            </a:r>
          </a:p>
        </p:txBody>
      </p:sp>
      <p:sp>
        <p:nvSpPr>
          <p:cNvPr id="11" name="TextBox 10"/>
          <p:cNvSpPr txBox="1"/>
          <p:nvPr/>
        </p:nvSpPr>
        <p:spPr>
          <a:xfrm>
            <a:off x="9098280" y="1682495"/>
            <a:ext cx="2176272" cy="402336"/>
          </a:xfrm>
          <a:prstGeom prst="rect">
            <a:avLst/>
          </a:prstGeom>
          <a:noFill/>
        </p:spPr>
        <p:txBody>
          <a:bodyPr wrap="none" lIns="27432" rIns="27432" tIns="27432" bIns="27432" anchor="t">
            <a:spAutoFit/>
          </a:bodyPr>
          <a:lstStyle/>
          <a:p>
            <a:pPr algn="l">
              <a:spcAft>
                <a:spcPts val="0"/>
              </a:spcAft>
            </a:pPr>
            <a:r>
              <a:rPr sz="1600" b="1" i="0">
                <a:solidFill>
                  <a:srgbClr val="0B1F33"/>
                </a:solidFill>
                <a:latin typeface="Liberation Sans"/>
              </a:rPr>
              <a:t>Indonesia · 241K</a:t>
            </a:r>
          </a:p>
        </p:txBody>
      </p:sp>
      <p:sp>
        <p:nvSpPr>
          <p:cNvPr id="12" name="Rounded Rectangle 11"/>
          <p:cNvSpPr/>
          <p:nvPr/>
        </p:nvSpPr>
        <p:spPr>
          <a:xfrm>
            <a:off x="8485632" y="2450591"/>
            <a:ext cx="3090672" cy="932688"/>
          </a:xfrm>
          <a:prstGeom prst="roundRect">
            <a:avLst/>
          </a:prstGeom>
          <a:solidFill>
            <a:srgbClr val="F7FAFC"/>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68512" y="2651760"/>
            <a:ext cx="310896" cy="31089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2578608"/>
            <a:ext cx="2176272" cy="219456"/>
          </a:xfrm>
          <a:prstGeom prst="rect">
            <a:avLst/>
          </a:prstGeom>
          <a:noFill/>
        </p:spPr>
        <p:txBody>
          <a:bodyPr wrap="none" lIns="27432" rIns="27432" tIns="27432" bIns="27432" anchor="t">
            <a:spAutoFit/>
          </a:bodyPr>
          <a:lstStyle/>
          <a:p>
            <a:pPr algn="l">
              <a:spcAft>
                <a:spcPts val="0"/>
              </a:spcAft>
            </a:pPr>
            <a:r>
              <a:rPr sz="1000" b="1" i="0">
                <a:solidFill>
                  <a:srgbClr val="64748B"/>
                </a:solidFill>
                <a:latin typeface="Liberation Sans"/>
              </a:rPr>
              <a:t>Largest total burden</a:t>
            </a:r>
          </a:p>
        </p:txBody>
      </p:sp>
      <p:sp>
        <p:nvSpPr>
          <p:cNvPr id="15" name="TextBox 14"/>
          <p:cNvSpPr txBox="1"/>
          <p:nvPr/>
        </p:nvSpPr>
        <p:spPr>
          <a:xfrm>
            <a:off x="9098280" y="2852927"/>
            <a:ext cx="2176272" cy="402336"/>
          </a:xfrm>
          <a:prstGeom prst="rect">
            <a:avLst/>
          </a:prstGeom>
          <a:noFill/>
        </p:spPr>
        <p:txBody>
          <a:bodyPr wrap="none" lIns="27432" rIns="27432" tIns="27432" bIns="27432" anchor="t">
            <a:spAutoFit/>
          </a:bodyPr>
          <a:lstStyle/>
          <a:p>
            <a:pPr algn="l">
              <a:spcAft>
                <a:spcPts val="0"/>
              </a:spcAft>
            </a:pPr>
            <a:r>
              <a:rPr sz="1600" b="1" i="0">
                <a:solidFill>
                  <a:srgbClr val="0B1F33"/>
                </a:solidFill>
                <a:latin typeface="Liberation Sans"/>
              </a:rPr>
              <a:t>India · 2.71M
92% coverage</a:t>
            </a:r>
          </a:p>
        </p:txBody>
      </p:sp>
      <p:sp>
        <p:nvSpPr>
          <p:cNvPr id="16" name="Rounded Rectangle 15"/>
          <p:cNvSpPr/>
          <p:nvPr/>
        </p:nvSpPr>
        <p:spPr>
          <a:xfrm>
            <a:off x="8485632" y="3621024"/>
            <a:ext cx="3090672" cy="932688"/>
          </a:xfrm>
          <a:prstGeom prst="roundRect">
            <a:avLst/>
          </a:prstGeom>
          <a:solidFill>
            <a:srgbClr val="F7FAFC"/>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68512" y="3822191"/>
            <a:ext cx="310896" cy="310896"/>
          </a:xfrm>
          <a:prstGeom prst="ellipse">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280" y="3749039"/>
            <a:ext cx="2176272" cy="219456"/>
          </a:xfrm>
          <a:prstGeom prst="rect">
            <a:avLst/>
          </a:prstGeom>
          <a:noFill/>
        </p:spPr>
        <p:txBody>
          <a:bodyPr wrap="none" lIns="27432" rIns="27432" tIns="27432" bIns="27432" anchor="t">
            <a:spAutoFit/>
          </a:bodyPr>
          <a:lstStyle/>
          <a:p>
            <a:pPr algn="l">
              <a:spcAft>
                <a:spcPts val="0"/>
              </a:spcAft>
            </a:pPr>
            <a:r>
              <a:rPr sz="1000" b="1" i="0">
                <a:solidFill>
                  <a:srgbClr val="64748B"/>
                </a:solidFill>
                <a:latin typeface="Liberation Sans"/>
              </a:rPr>
              <a:t>Low coverage warning</a:t>
            </a:r>
          </a:p>
        </p:txBody>
      </p:sp>
      <p:sp>
        <p:nvSpPr>
          <p:cNvPr id="19" name="TextBox 18"/>
          <p:cNvSpPr txBox="1"/>
          <p:nvPr/>
        </p:nvSpPr>
        <p:spPr>
          <a:xfrm>
            <a:off x="9098280" y="4023360"/>
            <a:ext cx="2176272" cy="402336"/>
          </a:xfrm>
          <a:prstGeom prst="rect">
            <a:avLst/>
          </a:prstGeom>
          <a:noFill/>
        </p:spPr>
        <p:txBody>
          <a:bodyPr wrap="none" lIns="27432" rIns="27432" tIns="27432" bIns="27432" anchor="t">
            <a:spAutoFit/>
          </a:bodyPr>
          <a:lstStyle/>
          <a:p>
            <a:pPr algn="l">
              <a:spcAft>
                <a:spcPts val="0"/>
              </a:spcAft>
            </a:pPr>
            <a:r>
              <a:rPr sz="1600" b="1" i="0">
                <a:solidFill>
                  <a:srgbClr val="0B1F33"/>
                </a:solidFill>
                <a:latin typeface="Liberation Sans"/>
              </a:rPr>
              <a:t>Myanmar · 43.5%</a:t>
            </a:r>
          </a:p>
        </p:txBody>
      </p:sp>
      <p:sp>
        <p:nvSpPr>
          <p:cNvPr id="20" name="Rounded Rectangle 19"/>
          <p:cNvSpPr/>
          <p:nvPr/>
        </p:nvSpPr>
        <p:spPr>
          <a:xfrm>
            <a:off x="8485632" y="4791456"/>
            <a:ext cx="3090672" cy="932688"/>
          </a:xfrm>
          <a:prstGeom prst="roundRect">
            <a:avLst/>
          </a:prstGeom>
          <a:solidFill>
            <a:srgbClr val="F7FAFC"/>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68512" y="499262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98280" y="4919472"/>
            <a:ext cx="2176272" cy="219456"/>
          </a:xfrm>
          <a:prstGeom prst="rect">
            <a:avLst/>
          </a:prstGeom>
          <a:noFill/>
        </p:spPr>
        <p:txBody>
          <a:bodyPr wrap="none" lIns="27432" rIns="27432" tIns="27432" bIns="27432" anchor="t">
            <a:spAutoFit/>
          </a:bodyPr>
          <a:lstStyle/>
          <a:p>
            <a:pPr algn="l">
              <a:spcAft>
                <a:spcPts val="0"/>
              </a:spcAft>
            </a:pPr>
            <a:r>
              <a:rPr sz="1000" b="1" i="0">
                <a:solidFill>
                  <a:srgbClr val="64748B"/>
                </a:solidFill>
                <a:latin typeface="Liberation Sans"/>
              </a:rPr>
              <a:t>Regional perspective</a:t>
            </a:r>
          </a:p>
        </p:txBody>
      </p:sp>
      <p:sp>
        <p:nvSpPr>
          <p:cNvPr id="23" name="TextBox 22"/>
          <p:cNvSpPr txBox="1"/>
          <p:nvPr/>
        </p:nvSpPr>
        <p:spPr>
          <a:xfrm>
            <a:off x="9098280" y="5193792"/>
            <a:ext cx="2176272" cy="402336"/>
          </a:xfrm>
          <a:prstGeom prst="rect">
            <a:avLst/>
          </a:prstGeom>
          <a:noFill/>
        </p:spPr>
        <p:txBody>
          <a:bodyPr wrap="none" lIns="27432" rIns="27432" tIns="27432" bIns="27432" anchor="t">
            <a:spAutoFit/>
          </a:bodyPr>
          <a:lstStyle/>
          <a:p>
            <a:pPr algn="l">
              <a:spcAft>
                <a:spcPts val="0"/>
              </a:spcAft>
            </a:pPr>
            <a:r>
              <a:rPr sz="1600" b="1" i="0">
                <a:solidFill>
                  <a:srgbClr val="0B1F33"/>
                </a:solidFill>
                <a:latin typeface="Liberation Sans"/>
              </a:rPr>
              <a:t>732K regional gap</a:t>
            </a:r>
          </a:p>
        </p:txBody>
      </p:sp>
      <p:sp>
        <p:nvSpPr>
          <p:cNvPr id="24" name="Rounded Rectangle 23"/>
          <p:cNvSpPr/>
          <p:nvPr/>
        </p:nvSpPr>
        <p:spPr>
          <a:xfrm>
            <a:off x="8485632" y="5779008"/>
            <a:ext cx="3090672" cy="493776"/>
          </a:xfrm>
          <a:prstGeom prst="roundRect">
            <a:avLst/>
          </a:prstGeom>
          <a:solidFill>
            <a:srgbClr val="EAF5F7"/>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32520" y="5879592"/>
            <a:ext cx="2587752" cy="256032"/>
          </a:xfrm>
          <a:prstGeom prst="rect">
            <a:avLst/>
          </a:prstGeom>
          <a:noFill/>
        </p:spPr>
        <p:txBody>
          <a:bodyPr wrap="none" lIns="27432" rIns="27432" tIns="27432" bIns="27432" anchor="t">
            <a:spAutoFit/>
          </a:bodyPr>
          <a:lstStyle/>
          <a:p>
            <a:pPr algn="ctr">
              <a:spcAft>
                <a:spcPts val="0"/>
              </a:spcAft>
            </a:pPr>
            <a:r>
              <a:rPr sz="1200" b="1" i="0">
                <a:solidFill>
                  <a:srgbClr val="0E7490"/>
                </a:solidFill>
                <a:latin typeface="Liberation Sans"/>
              </a:rPr>
              <a:t>Use counts + rates + coverage together.</a:t>
            </a:r>
          </a:p>
        </p:txBody>
      </p:sp>
      <p:sp>
        <p:nvSpPr>
          <p:cNvPr id="26" name="TextBox 25"/>
          <p:cNvSpPr txBox="1"/>
          <p:nvPr/>
        </p:nvSpPr>
        <p:spPr>
          <a:xfrm>
            <a:off x="502920" y="6565392"/>
            <a:ext cx="9966960" cy="182880"/>
          </a:xfrm>
          <a:prstGeom prst="rect">
            <a:avLst/>
          </a:prstGeom>
          <a:noFill/>
        </p:spPr>
        <p:txBody>
          <a:bodyPr wrap="none" lIns="27432" rIns="27432" tIns="27432" bIns="27432" anchor="t">
            <a:spAutoFit/>
          </a:bodyPr>
          <a:lstStyle/>
          <a:p>
            <a:pPr algn="l">
              <a:spcAft>
                <a:spcPts val="0"/>
              </a:spcAft>
            </a:pPr>
            <a:r>
              <a:rPr sz="800" b="0" i="0">
                <a:solidFill>
                  <a:srgbClr val="64748B"/>
                </a:solidFill>
                <a:latin typeface="Liberation Sans"/>
              </a:rPr>
              <a:t>WHO-derived project snapshot; Global Tuberculosis Report 2025 context</a:t>
            </a:r>
          </a:p>
        </p:txBody>
      </p:sp>
      <p:sp>
        <p:nvSpPr>
          <p:cNvPr id="27" name="TextBox 26"/>
          <p:cNvSpPr txBox="1"/>
          <p:nvPr/>
        </p:nvSpPr>
        <p:spPr>
          <a:xfrm>
            <a:off x="10241280" y="6565392"/>
            <a:ext cx="1417320" cy="182880"/>
          </a:xfrm>
          <a:prstGeom prst="rect">
            <a:avLst/>
          </a:prstGeom>
          <a:noFill/>
        </p:spPr>
        <p:txBody>
          <a:bodyPr wrap="none" lIns="27432" rIns="27432" tIns="27432" bIns="27432" anchor="t">
            <a:spAutoFit/>
          </a:bodyPr>
          <a:lstStyle/>
          <a:p>
            <a:pPr algn="r">
              <a:spcAft>
                <a:spcPts val="0"/>
              </a:spcAft>
            </a:pPr>
            <a:r>
              <a:rPr sz="800" b="0" i="0">
                <a:solidFill>
                  <a:srgbClr val="64748B"/>
                </a:solidFill>
                <a:latin typeface="Liberation Sans"/>
              </a:rPr>
              <a:t>MSBA382 · Healthcare Analytics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3657600" cy="256032"/>
          </a:xfrm>
          <a:prstGeom prst="rect">
            <a:avLst/>
          </a:prstGeom>
          <a:noFill/>
        </p:spPr>
        <p:txBody>
          <a:bodyPr wrap="none" lIns="27432" rIns="27432" tIns="27432" bIns="27432" anchor="t">
            <a:spAutoFit/>
          </a:bodyPr>
          <a:lstStyle/>
          <a:p>
            <a:pPr algn="l">
              <a:spcAft>
                <a:spcPts val="0"/>
              </a:spcAft>
            </a:pPr>
            <a:r>
              <a:rPr sz="1000" b="1" i="0">
                <a:solidFill>
                  <a:srgbClr val="0E7490"/>
                </a:solidFill>
                <a:latin typeface="Liberation Sans"/>
              </a:rPr>
              <a:t>DEMOGRAPHICS AND SUBTYPES</a:t>
            </a:r>
          </a:p>
        </p:txBody>
      </p:sp>
      <p:sp>
        <p:nvSpPr>
          <p:cNvPr id="3" name="TextBox 2"/>
          <p:cNvSpPr txBox="1"/>
          <p:nvPr/>
        </p:nvSpPr>
        <p:spPr>
          <a:xfrm>
            <a:off x="502920" y="475488"/>
            <a:ext cx="10789920" cy="502920"/>
          </a:xfrm>
          <a:prstGeom prst="rect">
            <a:avLst/>
          </a:prstGeom>
          <a:noFill/>
        </p:spPr>
        <p:txBody>
          <a:bodyPr wrap="none" lIns="27432" rIns="27432" tIns="27432" bIns="27432" anchor="t">
            <a:spAutoFit/>
          </a:bodyPr>
          <a:lstStyle/>
          <a:p>
            <a:pPr algn="l">
              <a:spcAft>
                <a:spcPts val="0"/>
              </a:spcAft>
            </a:pPr>
            <a:r>
              <a:rPr sz="2600" b="1" i="0">
                <a:solidFill>
                  <a:srgbClr val="0B1F33"/>
                </a:solidFill>
                <a:latin typeface="Liberation Sans"/>
              </a:rPr>
              <a:t>Different populations and clinical dimensions need different responses</a:t>
            </a:r>
          </a:p>
        </p:txBody>
      </p:sp>
      <p:sp>
        <p:nvSpPr>
          <p:cNvPr id="4" name="Rectangle 3"/>
          <p:cNvSpPr/>
          <p:nvPr/>
        </p:nvSpPr>
        <p:spPr>
          <a:xfrm>
            <a:off x="502920" y="1024128"/>
            <a:ext cx="11155680" cy="228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1400" y="201168"/>
            <a:ext cx="457200" cy="228600"/>
          </a:xfrm>
          <a:prstGeom prst="rect">
            <a:avLst/>
          </a:prstGeom>
          <a:noFill/>
        </p:spPr>
        <p:txBody>
          <a:bodyPr wrap="none" lIns="27432" rIns="27432" tIns="27432" bIns="27432" anchor="t">
            <a:spAutoFit/>
          </a:bodyPr>
          <a:lstStyle/>
          <a:p>
            <a:pPr algn="r">
              <a:spcAft>
                <a:spcPts val="0"/>
              </a:spcAft>
            </a:pPr>
            <a:r>
              <a:rPr sz="1000" b="1" i="0">
                <a:solidFill>
                  <a:srgbClr val="64748B"/>
                </a:solidFill>
                <a:latin typeface="Liberation Sans"/>
              </a:rPr>
              <a:t>6/7</a:t>
            </a:r>
          </a:p>
        </p:txBody>
      </p:sp>
      <p:sp>
        <p:nvSpPr>
          <p:cNvPr id="6" name="Rounded Rectangle 5"/>
          <p:cNvSpPr/>
          <p:nvPr/>
        </p:nvSpPr>
        <p:spPr>
          <a:xfrm>
            <a:off x="502920" y="1234440"/>
            <a:ext cx="5532120" cy="4224528"/>
          </a:xfrm>
          <a:prstGeom prst="roundRect">
            <a:avLst/>
          </a:prstGeom>
          <a:solidFill>
            <a:srgbClr val="FFFFFF"/>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72200" y="1234440"/>
            <a:ext cx="5513832" cy="4224528"/>
          </a:xfrm>
          <a:prstGeom prst="roundRect">
            <a:avLst/>
          </a:prstGeom>
          <a:solidFill>
            <a:srgbClr val="FFFFFF"/>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ge_sex_pyramid_2024.png"/>
          <p:cNvPicPr>
            <a:picLocks noChangeAspect="1"/>
          </p:cNvPicPr>
          <p:nvPr/>
        </p:nvPicPr>
        <p:blipFill>
          <a:blip r:embed="rId2"/>
          <a:stretch>
            <a:fillRect/>
          </a:stretch>
        </p:blipFill>
        <p:spPr>
          <a:xfrm>
            <a:off x="658368" y="1822746"/>
            <a:ext cx="5212080" cy="3020482"/>
          </a:xfrm>
          <a:prstGeom prst="rect">
            <a:avLst/>
          </a:prstGeom>
        </p:spPr>
      </p:pic>
      <p:pic>
        <p:nvPicPr>
          <p:cNvPr id="9" name="Picture 8" descr="hiv_rr_burden_2024.png"/>
          <p:cNvPicPr>
            <a:picLocks noChangeAspect="1"/>
          </p:cNvPicPr>
          <p:nvPr/>
        </p:nvPicPr>
        <p:blipFill>
          <a:blip r:embed="rId3"/>
          <a:stretch>
            <a:fillRect/>
          </a:stretch>
        </p:blipFill>
        <p:spPr>
          <a:xfrm>
            <a:off x="6327648" y="2076785"/>
            <a:ext cx="5193792" cy="2512405"/>
          </a:xfrm>
          <a:prstGeom prst="rect">
            <a:avLst/>
          </a:prstGeom>
        </p:spPr>
      </p:pic>
      <p:sp>
        <p:nvSpPr>
          <p:cNvPr id="10" name="Rounded Rectangle 9"/>
          <p:cNvSpPr/>
          <p:nvPr/>
        </p:nvSpPr>
        <p:spPr>
          <a:xfrm>
            <a:off x="502920" y="5669280"/>
            <a:ext cx="3520440" cy="658368"/>
          </a:xfrm>
          <a:prstGeom prst="roundRect">
            <a:avLst/>
          </a:prstGeom>
          <a:solidFill>
            <a:srgbClr val="F7FAFC"/>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669280"/>
            <a:ext cx="64008" cy="65836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769864"/>
            <a:ext cx="3017520" cy="182880"/>
          </a:xfrm>
          <a:prstGeom prst="rect">
            <a:avLst/>
          </a:prstGeom>
          <a:noFill/>
        </p:spPr>
        <p:txBody>
          <a:bodyPr wrap="none" lIns="27432" rIns="27432" tIns="27432" bIns="27432" anchor="t">
            <a:spAutoFit/>
          </a:bodyPr>
          <a:lstStyle/>
          <a:p>
            <a:pPr algn="l">
              <a:spcAft>
                <a:spcPts val="0"/>
              </a:spcAft>
            </a:pPr>
            <a:r>
              <a:rPr sz="1100" b="1" i="0">
                <a:solidFill>
                  <a:srgbClr val="0B1F33"/>
                </a:solidFill>
                <a:latin typeface="Liberation Sans"/>
              </a:rPr>
              <a:t>Male : female ≈ 1.50</a:t>
            </a:r>
          </a:p>
        </p:txBody>
      </p:sp>
      <p:sp>
        <p:nvSpPr>
          <p:cNvPr id="13" name="TextBox 12"/>
          <p:cNvSpPr txBox="1"/>
          <p:nvPr/>
        </p:nvSpPr>
        <p:spPr>
          <a:xfrm>
            <a:off x="685800" y="5980176"/>
            <a:ext cx="3017520" cy="173736"/>
          </a:xfrm>
          <a:prstGeom prst="rect">
            <a:avLst/>
          </a:prstGeom>
          <a:noFill/>
        </p:spPr>
        <p:txBody>
          <a:bodyPr wrap="none" lIns="27432" rIns="27432" tIns="27432" bIns="27432" anchor="t">
            <a:spAutoFit/>
          </a:bodyPr>
          <a:lstStyle/>
          <a:p>
            <a:pPr algn="l">
              <a:spcAft>
                <a:spcPts val="0"/>
              </a:spcAft>
            </a:pPr>
            <a:r>
              <a:rPr sz="950" b="0" i="0">
                <a:solidFill>
                  <a:srgbClr val="64748B"/>
                </a:solidFill>
                <a:latin typeface="Liberation Sans"/>
              </a:rPr>
              <a:t>Tailor outreach to adult men</a:t>
            </a:r>
          </a:p>
        </p:txBody>
      </p:sp>
      <p:sp>
        <p:nvSpPr>
          <p:cNvPr id="14" name="Rounded Rectangle 13"/>
          <p:cNvSpPr/>
          <p:nvPr/>
        </p:nvSpPr>
        <p:spPr>
          <a:xfrm>
            <a:off x="4233672" y="5669280"/>
            <a:ext cx="3520440" cy="658368"/>
          </a:xfrm>
          <a:prstGeom prst="roundRect">
            <a:avLst/>
          </a:prstGeom>
          <a:solidFill>
            <a:srgbClr val="F7FAFC"/>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3672" y="5669280"/>
            <a:ext cx="64008" cy="6583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6552" y="5769864"/>
            <a:ext cx="3017520" cy="182880"/>
          </a:xfrm>
          <a:prstGeom prst="rect">
            <a:avLst/>
          </a:prstGeom>
          <a:noFill/>
        </p:spPr>
        <p:txBody>
          <a:bodyPr wrap="none" lIns="27432" rIns="27432" tIns="27432" bIns="27432" anchor="t">
            <a:spAutoFit/>
          </a:bodyPr>
          <a:lstStyle/>
          <a:p>
            <a:pPr algn="l">
              <a:spcAft>
                <a:spcPts val="0"/>
              </a:spcAft>
            </a:pPr>
            <a:r>
              <a:rPr sz="1100" b="1" i="0">
                <a:solidFill>
                  <a:srgbClr val="0B1F33"/>
                </a:solidFill>
                <a:latin typeface="Liberation Sans"/>
              </a:rPr>
              <a:t>South Africa · 134K TB–HIV</a:t>
            </a:r>
          </a:p>
        </p:txBody>
      </p:sp>
      <p:sp>
        <p:nvSpPr>
          <p:cNvPr id="17" name="TextBox 16"/>
          <p:cNvSpPr txBox="1"/>
          <p:nvPr/>
        </p:nvSpPr>
        <p:spPr>
          <a:xfrm>
            <a:off x="4416552" y="5980176"/>
            <a:ext cx="3017520" cy="173736"/>
          </a:xfrm>
          <a:prstGeom prst="rect">
            <a:avLst/>
          </a:prstGeom>
          <a:noFill/>
        </p:spPr>
        <p:txBody>
          <a:bodyPr wrap="none" lIns="27432" rIns="27432" tIns="27432" bIns="27432" anchor="t">
            <a:spAutoFit/>
          </a:bodyPr>
          <a:lstStyle/>
          <a:p>
            <a:pPr algn="l">
              <a:spcAft>
                <a:spcPts val="0"/>
              </a:spcAft>
            </a:pPr>
            <a:r>
              <a:rPr sz="950" b="0" i="0">
                <a:solidFill>
                  <a:srgbClr val="64748B"/>
                </a:solidFill>
                <a:latin typeface="Liberation Sans"/>
              </a:rPr>
              <a:t>Integrate TB and HIV pathways</a:t>
            </a:r>
          </a:p>
        </p:txBody>
      </p:sp>
      <p:sp>
        <p:nvSpPr>
          <p:cNvPr id="18" name="Rounded Rectangle 17"/>
          <p:cNvSpPr/>
          <p:nvPr/>
        </p:nvSpPr>
        <p:spPr>
          <a:xfrm>
            <a:off x="7964424" y="5669280"/>
            <a:ext cx="3520440" cy="658368"/>
          </a:xfrm>
          <a:prstGeom prst="roundRect">
            <a:avLst/>
          </a:prstGeom>
          <a:solidFill>
            <a:srgbClr val="F7FAFC"/>
          </a:solidFill>
          <a:ln w="12700">
            <a:solidFill>
              <a:srgbClr val="DD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64424" y="5669280"/>
            <a:ext cx="64008" cy="658368"/>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5769864"/>
            <a:ext cx="3017520" cy="182880"/>
          </a:xfrm>
          <a:prstGeom prst="rect">
            <a:avLst/>
          </a:prstGeom>
          <a:noFill/>
        </p:spPr>
        <p:txBody>
          <a:bodyPr wrap="none" lIns="27432" rIns="27432" tIns="27432" bIns="27432" anchor="t">
            <a:spAutoFit/>
          </a:bodyPr>
          <a:lstStyle/>
          <a:p>
            <a:pPr algn="l">
              <a:spcAft>
                <a:spcPts val="0"/>
              </a:spcAft>
            </a:pPr>
            <a:r>
              <a:rPr sz="1100" b="1" i="0">
                <a:solidFill>
                  <a:srgbClr val="0B1F33"/>
                </a:solidFill>
                <a:latin typeface="Liberation Sans"/>
              </a:rPr>
              <a:t>India · 130K RR/MDR-TB</a:t>
            </a:r>
          </a:p>
        </p:txBody>
      </p:sp>
      <p:sp>
        <p:nvSpPr>
          <p:cNvPr id="21" name="TextBox 20"/>
          <p:cNvSpPr txBox="1"/>
          <p:nvPr/>
        </p:nvSpPr>
        <p:spPr>
          <a:xfrm>
            <a:off x="8147304" y="5980176"/>
            <a:ext cx="3017520" cy="173736"/>
          </a:xfrm>
          <a:prstGeom prst="rect">
            <a:avLst/>
          </a:prstGeom>
          <a:noFill/>
        </p:spPr>
        <p:txBody>
          <a:bodyPr wrap="none" lIns="27432" rIns="27432" tIns="27432" bIns="27432" anchor="t">
            <a:spAutoFit/>
          </a:bodyPr>
          <a:lstStyle/>
          <a:p>
            <a:pPr algn="l">
              <a:spcAft>
                <a:spcPts val="0"/>
              </a:spcAft>
            </a:pPr>
            <a:r>
              <a:rPr sz="950" b="0" i="0">
                <a:solidFill>
                  <a:srgbClr val="64748B"/>
                </a:solidFill>
                <a:latin typeface="Liberation Sans"/>
              </a:rPr>
              <a:t>Expand rapid resistance testing</a:t>
            </a:r>
          </a:p>
        </p:txBody>
      </p:sp>
      <p:sp>
        <p:nvSpPr>
          <p:cNvPr id="22" name="TextBox 21"/>
          <p:cNvSpPr txBox="1"/>
          <p:nvPr/>
        </p:nvSpPr>
        <p:spPr>
          <a:xfrm>
            <a:off x="502920" y="6565392"/>
            <a:ext cx="9966960" cy="182880"/>
          </a:xfrm>
          <a:prstGeom prst="rect">
            <a:avLst/>
          </a:prstGeom>
          <a:noFill/>
        </p:spPr>
        <p:txBody>
          <a:bodyPr wrap="none" lIns="27432" rIns="27432" tIns="27432" bIns="27432" anchor="t">
            <a:spAutoFit/>
          </a:bodyPr>
          <a:lstStyle/>
          <a:p>
            <a:pPr algn="l">
              <a:spcAft>
                <a:spcPts val="0"/>
              </a:spcAft>
            </a:pPr>
            <a:r>
              <a:rPr sz="800" b="0" i="0">
                <a:solidFill>
                  <a:srgbClr val="64748B"/>
                </a:solidFill>
                <a:latin typeface="Liberation Sans"/>
              </a:rPr>
              <a:t>WHO-derived project snapshot; Global Tuberculosis Report 2025 context</a:t>
            </a:r>
          </a:p>
        </p:txBody>
      </p:sp>
      <p:sp>
        <p:nvSpPr>
          <p:cNvPr id="23" name="TextBox 22"/>
          <p:cNvSpPr txBox="1"/>
          <p:nvPr/>
        </p:nvSpPr>
        <p:spPr>
          <a:xfrm>
            <a:off x="10241280" y="6565392"/>
            <a:ext cx="1417320" cy="182880"/>
          </a:xfrm>
          <a:prstGeom prst="rect">
            <a:avLst/>
          </a:prstGeom>
          <a:noFill/>
        </p:spPr>
        <p:txBody>
          <a:bodyPr wrap="none" lIns="27432" rIns="27432" tIns="27432" bIns="27432" anchor="t">
            <a:spAutoFit/>
          </a:bodyPr>
          <a:lstStyle/>
          <a:p>
            <a:pPr algn="r">
              <a:spcAft>
                <a:spcPts val="0"/>
              </a:spcAft>
            </a:pPr>
            <a:r>
              <a:rPr sz="800" b="0" i="0">
                <a:solidFill>
                  <a:srgbClr val="64748B"/>
                </a:solidFill>
                <a:latin typeface="Liberation Sans"/>
              </a:rPr>
              <a:t>MSBA382 · Healthcare Analytics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640080" y="411480"/>
            <a:ext cx="3657600" cy="256032"/>
          </a:xfrm>
          <a:prstGeom prst="rect">
            <a:avLst/>
          </a:prstGeom>
          <a:noFill/>
        </p:spPr>
        <p:txBody>
          <a:bodyPr wrap="none" lIns="27432" rIns="27432" tIns="27432" bIns="27432" anchor="t">
            <a:spAutoFit/>
          </a:bodyPr>
          <a:lstStyle/>
          <a:p>
            <a:pPr algn="l">
              <a:spcAft>
                <a:spcPts val="0"/>
              </a:spcAft>
            </a:pPr>
            <a:r>
              <a:rPr sz="1100" b="1" i="0">
                <a:solidFill>
                  <a:srgbClr val="9EE7E5"/>
                </a:solidFill>
                <a:latin typeface="Liberation Sans"/>
              </a:rPr>
              <a:t>FROM INSIGHT TO ACTION</a:t>
            </a:r>
          </a:p>
        </p:txBody>
      </p:sp>
      <p:sp>
        <p:nvSpPr>
          <p:cNvPr id="3" name="TextBox 2"/>
          <p:cNvSpPr txBox="1"/>
          <p:nvPr/>
        </p:nvSpPr>
        <p:spPr>
          <a:xfrm>
            <a:off x="640080" y="749808"/>
            <a:ext cx="8686800" cy="594360"/>
          </a:xfrm>
          <a:prstGeom prst="rect">
            <a:avLst/>
          </a:prstGeom>
          <a:noFill/>
        </p:spPr>
        <p:txBody>
          <a:bodyPr wrap="none" lIns="27432" rIns="27432" tIns="27432" bIns="27432" anchor="t">
            <a:spAutoFit/>
          </a:bodyPr>
          <a:lstStyle/>
          <a:p>
            <a:pPr algn="l">
              <a:spcAft>
                <a:spcPts val="0"/>
              </a:spcAft>
            </a:pPr>
            <a:r>
              <a:rPr sz="3000" b="1" i="0">
                <a:solidFill>
                  <a:srgbClr val="FFFFFF"/>
                </a:solidFill>
                <a:latin typeface="Liberation Sans"/>
              </a:rPr>
              <a:t>Four recommendations for a stronger TB response</a:t>
            </a:r>
          </a:p>
        </p:txBody>
      </p:sp>
      <p:sp>
        <p:nvSpPr>
          <p:cNvPr id="4" name="Rounded Rectangle 3"/>
          <p:cNvSpPr/>
          <p:nvPr/>
        </p:nvSpPr>
        <p:spPr>
          <a:xfrm>
            <a:off x="658368" y="1627632"/>
            <a:ext cx="8229600" cy="749808"/>
          </a:xfrm>
          <a:prstGeom prst="roundRect">
            <a:avLst/>
          </a:prstGeom>
          <a:solidFill>
            <a:srgbClr val="133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764792"/>
            <a:ext cx="438912" cy="438912"/>
          </a:xfrm>
          <a:prstGeom prst="ellipse">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37944"/>
            <a:ext cx="438912" cy="219456"/>
          </a:xfrm>
          <a:prstGeom prst="rect">
            <a:avLst/>
          </a:prstGeom>
          <a:noFill/>
        </p:spPr>
        <p:txBody>
          <a:bodyPr wrap="none" lIns="27432" rIns="27432" tIns="27432" bIns="27432" anchor="t">
            <a:spAutoFit/>
          </a:bodyPr>
          <a:lstStyle/>
          <a:p>
            <a:pPr algn="ctr">
              <a:spcAft>
                <a:spcPts val="0"/>
              </a:spcAft>
            </a:pPr>
            <a:r>
              <a:rPr sz="1400" b="1" i="0">
                <a:solidFill>
                  <a:srgbClr val="FFFFFF"/>
                </a:solidFill>
                <a:latin typeface="Liberation Sans"/>
              </a:rPr>
              <a:t>1</a:t>
            </a:r>
          </a:p>
        </p:txBody>
      </p:sp>
      <p:sp>
        <p:nvSpPr>
          <p:cNvPr id="7" name="TextBox 6"/>
          <p:cNvSpPr txBox="1"/>
          <p:nvPr/>
        </p:nvSpPr>
        <p:spPr>
          <a:xfrm>
            <a:off x="1444752" y="1737360"/>
            <a:ext cx="3291840" cy="246888"/>
          </a:xfrm>
          <a:prstGeom prst="rect">
            <a:avLst/>
          </a:prstGeom>
          <a:noFill/>
        </p:spPr>
        <p:txBody>
          <a:bodyPr wrap="none" lIns="27432" rIns="27432" tIns="27432" bIns="27432" anchor="t">
            <a:spAutoFit/>
          </a:bodyPr>
          <a:lstStyle/>
          <a:p>
            <a:pPr algn="l">
              <a:spcAft>
                <a:spcPts val="0"/>
              </a:spcAft>
            </a:pPr>
            <a:r>
              <a:rPr sz="1500" b="1" i="0">
                <a:solidFill>
                  <a:srgbClr val="FFFFFF"/>
                </a:solidFill>
                <a:latin typeface="Liberation Sans"/>
              </a:rPr>
              <a:t>Prioritize high-volume detection gaps</a:t>
            </a:r>
          </a:p>
        </p:txBody>
      </p:sp>
      <p:sp>
        <p:nvSpPr>
          <p:cNvPr id="8" name="TextBox 7"/>
          <p:cNvSpPr txBox="1"/>
          <p:nvPr/>
        </p:nvSpPr>
        <p:spPr>
          <a:xfrm>
            <a:off x="4572000" y="1764792"/>
            <a:ext cx="3977639" cy="402336"/>
          </a:xfrm>
          <a:prstGeom prst="rect">
            <a:avLst/>
          </a:prstGeom>
          <a:noFill/>
        </p:spPr>
        <p:txBody>
          <a:bodyPr wrap="none" lIns="27432" rIns="27432" tIns="27432" bIns="27432" anchor="t">
            <a:spAutoFit/>
          </a:bodyPr>
          <a:lstStyle/>
          <a:p>
            <a:pPr algn="l">
              <a:spcAft>
                <a:spcPts val="0"/>
              </a:spcAft>
            </a:pPr>
            <a:r>
              <a:rPr sz="1100" b="0" i="0">
                <a:solidFill>
                  <a:srgbClr val="D7E4EA"/>
                </a:solidFill>
                <a:latin typeface="Liberation Sans"/>
              </a:rPr>
              <a:t>Focus case finding, diagnostics and reporting audits where absolute differences are largest.</a:t>
            </a:r>
          </a:p>
        </p:txBody>
      </p:sp>
      <p:sp>
        <p:nvSpPr>
          <p:cNvPr id="9" name="Rounded Rectangle 8"/>
          <p:cNvSpPr/>
          <p:nvPr/>
        </p:nvSpPr>
        <p:spPr>
          <a:xfrm>
            <a:off x="658368" y="2569464"/>
            <a:ext cx="8229600" cy="749808"/>
          </a:xfrm>
          <a:prstGeom prst="roundRect">
            <a:avLst/>
          </a:prstGeom>
          <a:solidFill>
            <a:srgbClr val="133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706624"/>
            <a:ext cx="438912" cy="438912"/>
          </a:xfrm>
          <a:prstGeom prst="ellipse">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779776"/>
            <a:ext cx="438912" cy="219456"/>
          </a:xfrm>
          <a:prstGeom prst="rect">
            <a:avLst/>
          </a:prstGeom>
          <a:noFill/>
        </p:spPr>
        <p:txBody>
          <a:bodyPr wrap="none" lIns="27432" rIns="27432" tIns="27432" bIns="27432" anchor="t">
            <a:spAutoFit/>
          </a:bodyPr>
          <a:lstStyle/>
          <a:p>
            <a:pPr algn="ctr">
              <a:spcAft>
                <a:spcPts val="0"/>
              </a:spcAft>
            </a:pPr>
            <a:r>
              <a:rPr sz="1400" b="1" i="0">
                <a:solidFill>
                  <a:srgbClr val="FFFFFF"/>
                </a:solidFill>
                <a:latin typeface="Liberation Sans"/>
              </a:rPr>
              <a:t>2</a:t>
            </a:r>
          </a:p>
        </p:txBody>
      </p:sp>
      <p:sp>
        <p:nvSpPr>
          <p:cNvPr id="12" name="TextBox 11"/>
          <p:cNvSpPr txBox="1"/>
          <p:nvPr/>
        </p:nvSpPr>
        <p:spPr>
          <a:xfrm>
            <a:off x="1444752" y="2679192"/>
            <a:ext cx="3291840" cy="246888"/>
          </a:xfrm>
          <a:prstGeom prst="rect">
            <a:avLst/>
          </a:prstGeom>
          <a:noFill/>
        </p:spPr>
        <p:txBody>
          <a:bodyPr wrap="none" lIns="27432" rIns="27432" tIns="27432" bIns="27432" anchor="t">
            <a:spAutoFit/>
          </a:bodyPr>
          <a:lstStyle/>
          <a:p>
            <a:pPr algn="l">
              <a:spcAft>
                <a:spcPts val="0"/>
              </a:spcAft>
            </a:pPr>
            <a:r>
              <a:rPr sz="1500" b="1" i="0">
                <a:solidFill>
                  <a:srgbClr val="FFFFFF"/>
                </a:solidFill>
                <a:latin typeface="Liberation Sans"/>
              </a:rPr>
              <a:t>Protect continuity during disruption</a:t>
            </a:r>
          </a:p>
        </p:txBody>
      </p:sp>
      <p:sp>
        <p:nvSpPr>
          <p:cNvPr id="13" name="TextBox 12"/>
          <p:cNvSpPr txBox="1"/>
          <p:nvPr/>
        </p:nvSpPr>
        <p:spPr>
          <a:xfrm>
            <a:off x="4572000" y="2706624"/>
            <a:ext cx="3977639" cy="402336"/>
          </a:xfrm>
          <a:prstGeom prst="rect">
            <a:avLst/>
          </a:prstGeom>
          <a:noFill/>
        </p:spPr>
        <p:txBody>
          <a:bodyPr wrap="none" lIns="27432" rIns="27432" tIns="27432" bIns="27432" anchor="t">
            <a:spAutoFit/>
          </a:bodyPr>
          <a:lstStyle/>
          <a:p>
            <a:pPr algn="l">
              <a:spcAft>
                <a:spcPts val="0"/>
              </a:spcAft>
            </a:pPr>
            <a:r>
              <a:rPr sz="1100" b="0" i="0">
                <a:solidFill>
                  <a:srgbClr val="D7E4EA"/>
                </a:solidFill>
                <a:latin typeface="Liberation Sans"/>
              </a:rPr>
              <a:t>Maintain diagnostics, drug supply, follow-up and data reporting during emergencies.</a:t>
            </a:r>
          </a:p>
        </p:txBody>
      </p:sp>
      <p:sp>
        <p:nvSpPr>
          <p:cNvPr id="14" name="Rounded Rectangle 13"/>
          <p:cNvSpPr/>
          <p:nvPr/>
        </p:nvSpPr>
        <p:spPr>
          <a:xfrm>
            <a:off x="658368" y="3511296"/>
            <a:ext cx="8229600" cy="749808"/>
          </a:xfrm>
          <a:prstGeom prst="roundRect">
            <a:avLst/>
          </a:prstGeom>
          <a:solidFill>
            <a:srgbClr val="133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648456"/>
            <a:ext cx="438912" cy="43891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3721608"/>
            <a:ext cx="438912" cy="219456"/>
          </a:xfrm>
          <a:prstGeom prst="rect">
            <a:avLst/>
          </a:prstGeom>
          <a:noFill/>
        </p:spPr>
        <p:txBody>
          <a:bodyPr wrap="none" lIns="27432" rIns="27432" tIns="27432" bIns="27432" anchor="t">
            <a:spAutoFit/>
          </a:bodyPr>
          <a:lstStyle/>
          <a:p>
            <a:pPr algn="ctr">
              <a:spcAft>
                <a:spcPts val="0"/>
              </a:spcAft>
            </a:pPr>
            <a:r>
              <a:rPr sz="1400" b="1" i="0">
                <a:solidFill>
                  <a:srgbClr val="FFFFFF"/>
                </a:solidFill>
                <a:latin typeface="Liberation Sans"/>
              </a:rPr>
              <a:t>3</a:t>
            </a:r>
          </a:p>
        </p:txBody>
      </p:sp>
      <p:sp>
        <p:nvSpPr>
          <p:cNvPr id="17" name="TextBox 16"/>
          <p:cNvSpPr txBox="1"/>
          <p:nvPr/>
        </p:nvSpPr>
        <p:spPr>
          <a:xfrm>
            <a:off x="1444752" y="3621024"/>
            <a:ext cx="3291840" cy="246888"/>
          </a:xfrm>
          <a:prstGeom prst="rect">
            <a:avLst/>
          </a:prstGeom>
          <a:noFill/>
        </p:spPr>
        <p:txBody>
          <a:bodyPr wrap="none" lIns="27432" rIns="27432" tIns="27432" bIns="27432" anchor="t">
            <a:spAutoFit/>
          </a:bodyPr>
          <a:lstStyle/>
          <a:p>
            <a:pPr algn="l">
              <a:spcAft>
                <a:spcPts val="0"/>
              </a:spcAft>
            </a:pPr>
            <a:r>
              <a:rPr sz="1500" b="1" i="0">
                <a:solidFill>
                  <a:srgbClr val="FFFFFF"/>
                </a:solidFill>
                <a:latin typeface="Liberation Sans"/>
              </a:rPr>
              <a:t>Integrate TB–HIV and resistance pathways</a:t>
            </a:r>
          </a:p>
        </p:txBody>
      </p:sp>
      <p:sp>
        <p:nvSpPr>
          <p:cNvPr id="18" name="TextBox 17"/>
          <p:cNvSpPr txBox="1"/>
          <p:nvPr/>
        </p:nvSpPr>
        <p:spPr>
          <a:xfrm>
            <a:off x="4572000" y="3648456"/>
            <a:ext cx="3977639" cy="402336"/>
          </a:xfrm>
          <a:prstGeom prst="rect">
            <a:avLst/>
          </a:prstGeom>
          <a:noFill/>
        </p:spPr>
        <p:txBody>
          <a:bodyPr wrap="none" lIns="27432" rIns="27432" tIns="27432" bIns="27432" anchor="t">
            <a:spAutoFit/>
          </a:bodyPr>
          <a:lstStyle/>
          <a:p>
            <a:pPr algn="l">
              <a:spcAft>
                <a:spcPts val="0"/>
              </a:spcAft>
            </a:pPr>
            <a:r>
              <a:rPr sz="1100" b="0" i="0">
                <a:solidFill>
                  <a:srgbClr val="D7E4EA"/>
                </a:solidFill>
                <a:latin typeface="Liberation Sans"/>
              </a:rPr>
              <a:t>Match the service model to co-epidemic and drug-resistance patterns.</a:t>
            </a:r>
          </a:p>
        </p:txBody>
      </p:sp>
      <p:sp>
        <p:nvSpPr>
          <p:cNvPr id="19" name="Rounded Rectangle 18"/>
          <p:cNvSpPr/>
          <p:nvPr/>
        </p:nvSpPr>
        <p:spPr>
          <a:xfrm>
            <a:off x="658368" y="4453128"/>
            <a:ext cx="8229600" cy="749808"/>
          </a:xfrm>
          <a:prstGeom prst="roundRect">
            <a:avLst/>
          </a:prstGeom>
          <a:solidFill>
            <a:srgbClr val="133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590288"/>
            <a:ext cx="438912" cy="438912"/>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4663440"/>
            <a:ext cx="438912" cy="219456"/>
          </a:xfrm>
          <a:prstGeom prst="rect">
            <a:avLst/>
          </a:prstGeom>
          <a:noFill/>
        </p:spPr>
        <p:txBody>
          <a:bodyPr wrap="none" lIns="27432" rIns="27432" tIns="27432" bIns="27432" anchor="t">
            <a:spAutoFit/>
          </a:bodyPr>
          <a:lstStyle/>
          <a:p>
            <a:pPr algn="ctr">
              <a:spcAft>
                <a:spcPts val="0"/>
              </a:spcAft>
            </a:pPr>
            <a:r>
              <a:rPr sz="1400" b="1" i="0">
                <a:solidFill>
                  <a:srgbClr val="FFFFFF"/>
                </a:solidFill>
                <a:latin typeface="Liberation Sans"/>
              </a:rPr>
              <a:t>4</a:t>
            </a:r>
          </a:p>
        </p:txBody>
      </p:sp>
      <p:sp>
        <p:nvSpPr>
          <p:cNvPr id="22" name="TextBox 21"/>
          <p:cNvSpPr txBox="1"/>
          <p:nvPr/>
        </p:nvSpPr>
        <p:spPr>
          <a:xfrm>
            <a:off x="1444752" y="4562856"/>
            <a:ext cx="3291840" cy="246888"/>
          </a:xfrm>
          <a:prstGeom prst="rect">
            <a:avLst/>
          </a:prstGeom>
          <a:noFill/>
        </p:spPr>
        <p:txBody>
          <a:bodyPr wrap="none" lIns="27432" rIns="27432" tIns="27432" bIns="27432" anchor="t">
            <a:spAutoFit/>
          </a:bodyPr>
          <a:lstStyle/>
          <a:p>
            <a:pPr algn="l">
              <a:spcAft>
                <a:spcPts val="0"/>
              </a:spcAft>
            </a:pPr>
            <a:r>
              <a:rPr sz="1500" b="1" i="0">
                <a:solidFill>
                  <a:srgbClr val="FFFFFF"/>
                </a:solidFill>
                <a:latin typeface="Liberation Sans"/>
              </a:rPr>
              <a:t>Tailor outreach and govern the data</a:t>
            </a:r>
          </a:p>
        </p:txBody>
      </p:sp>
      <p:sp>
        <p:nvSpPr>
          <p:cNvPr id="23" name="TextBox 22"/>
          <p:cNvSpPr txBox="1"/>
          <p:nvPr/>
        </p:nvSpPr>
        <p:spPr>
          <a:xfrm>
            <a:off x="4572000" y="4590288"/>
            <a:ext cx="3977639" cy="402336"/>
          </a:xfrm>
          <a:prstGeom prst="rect">
            <a:avLst/>
          </a:prstGeom>
          <a:noFill/>
        </p:spPr>
        <p:txBody>
          <a:bodyPr wrap="none" lIns="27432" rIns="27432" tIns="27432" bIns="27432" anchor="t">
            <a:spAutoFit/>
          </a:bodyPr>
          <a:lstStyle/>
          <a:p>
            <a:pPr algn="l">
              <a:spcAft>
                <a:spcPts val="0"/>
              </a:spcAft>
            </a:pPr>
            <a:r>
              <a:rPr sz="1100" b="0" i="0">
                <a:solidFill>
                  <a:srgbClr val="D7E4EA"/>
                </a:solidFill>
                <a:latin typeface="Liberation Sans"/>
              </a:rPr>
              <a:t>Use demographic targeting; investigate outliers and refresh with each WHO release.</a:t>
            </a:r>
          </a:p>
        </p:txBody>
      </p:sp>
      <p:sp>
        <p:nvSpPr>
          <p:cNvPr id="24" name="Rounded Rectangle 23"/>
          <p:cNvSpPr/>
          <p:nvPr/>
        </p:nvSpPr>
        <p:spPr>
          <a:xfrm>
            <a:off x="9162288" y="1627632"/>
            <a:ext cx="2395728" cy="45079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64040" y="1993392"/>
            <a:ext cx="1783080" cy="347472"/>
          </a:xfrm>
          <a:prstGeom prst="rect">
            <a:avLst/>
          </a:prstGeom>
          <a:noFill/>
        </p:spPr>
        <p:txBody>
          <a:bodyPr wrap="none" lIns="27432" rIns="27432" tIns="27432" bIns="27432" anchor="t">
            <a:spAutoFit/>
          </a:bodyPr>
          <a:lstStyle/>
          <a:p>
            <a:pPr algn="ctr">
              <a:spcAft>
                <a:spcPts val="0"/>
              </a:spcAft>
            </a:pPr>
            <a:r>
              <a:rPr sz="2500" b="1" i="0">
                <a:solidFill>
                  <a:srgbClr val="E76F51"/>
                </a:solidFill>
                <a:latin typeface="Liberation Sans"/>
              </a:rPr>
              <a:t>FIND</a:t>
            </a:r>
          </a:p>
        </p:txBody>
      </p:sp>
      <p:sp>
        <p:nvSpPr>
          <p:cNvPr id="26" name="TextBox 25"/>
          <p:cNvSpPr txBox="1"/>
          <p:nvPr/>
        </p:nvSpPr>
        <p:spPr>
          <a:xfrm>
            <a:off x="9464040" y="2395728"/>
            <a:ext cx="1783080" cy="548640"/>
          </a:xfrm>
          <a:prstGeom prst="rect">
            <a:avLst/>
          </a:prstGeom>
          <a:noFill/>
        </p:spPr>
        <p:txBody>
          <a:bodyPr wrap="none" lIns="27432" rIns="27432" tIns="27432" bIns="27432" anchor="t">
            <a:spAutoFit/>
          </a:bodyPr>
          <a:lstStyle/>
          <a:p>
            <a:pPr algn="ctr">
              <a:spcAft>
                <a:spcPts val="0"/>
              </a:spcAft>
            </a:pPr>
            <a:r>
              <a:rPr sz="1200" b="0" i="0">
                <a:solidFill>
                  <a:srgbClr val="64748B"/>
                </a:solidFill>
                <a:latin typeface="Liberation Sans"/>
              </a:rPr>
              <a:t>where burden and gaps are concentrated</a:t>
            </a:r>
          </a:p>
        </p:txBody>
      </p:sp>
      <p:sp>
        <p:nvSpPr>
          <p:cNvPr id="27" name="TextBox 26"/>
          <p:cNvSpPr txBox="1"/>
          <p:nvPr/>
        </p:nvSpPr>
        <p:spPr>
          <a:xfrm>
            <a:off x="9829800" y="2971800"/>
            <a:ext cx="1051560" cy="320040"/>
          </a:xfrm>
          <a:prstGeom prst="rect">
            <a:avLst/>
          </a:prstGeom>
          <a:noFill/>
        </p:spPr>
        <p:txBody>
          <a:bodyPr wrap="none" lIns="27432" rIns="27432" tIns="27432" bIns="27432" anchor="t">
            <a:spAutoFit/>
          </a:bodyPr>
          <a:lstStyle/>
          <a:p>
            <a:pPr algn="ctr">
              <a:spcAft>
                <a:spcPts val="0"/>
              </a:spcAft>
            </a:pPr>
            <a:r>
              <a:rPr sz="2400" b="1" i="0">
                <a:solidFill>
                  <a:srgbClr val="0E7490"/>
                </a:solidFill>
                <a:latin typeface="Liberation Sans"/>
              </a:rPr>
              <a:t>↓</a:t>
            </a:r>
          </a:p>
        </p:txBody>
      </p:sp>
      <p:sp>
        <p:nvSpPr>
          <p:cNvPr id="28" name="TextBox 27"/>
          <p:cNvSpPr txBox="1"/>
          <p:nvPr/>
        </p:nvSpPr>
        <p:spPr>
          <a:xfrm>
            <a:off x="9464040" y="3337560"/>
            <a:ext cx="1783080" cy="347472"/>
          </a:xfrm>
          <a:prstGeom prst="rect">
            <a:avLst/>
          </a:prstGeom>
          <a:noFill/>
        </p:spPr>
        <p:txBody>
          <a:bodyPr wrap="none" lIns="27432" rIns="27432" tIns="27432" bIns="27432" anchor="t">
            <a:spAutoFit/>
          </a:bodyPr>
          <a:lstStyle/>
          <a:p>
            <a:pPr algn="ctr">
              <a:spcAft>
                <a:spcPts val="0"/>
              </a:spcAft>
            </a:pPr>
            <a:r>
              <a:rPr sz="2500" b="1" i="0">
                <a:solidFill>
                  <a:srgbClr val="0E7490"/>
                </a:solidFill>
                <a:latin typeface="Liberation Sans"/>
              </a:rPr>
              <a:t>TARGET</a:t>
            </a:r>
          </a:p>
        </p:txBody>
      </p:sp>
      <p:sp>
        <p:nvSpPr>
          <p:cNvPr id="29" name="TextBox 28"/>
          <p:cNvSpPr txBox="1"/>
          <p:nvPr/>
        </p:nvSpPr>
        <p:spPr>
          <a:xfrm>
            <a:off x="9464040" y="3749039"/>
            <a:ext cx="1783080" cy="548640"/>
          </a:xfrm>
          <a:prstGeom prst="rect">
            <a:avLst/>
          </a:prstGeom>
          <a:noFill/>
        </p:spPr>
        <p:txBody>
          <a:bodyPr wrap="none" lIns="27432" rIns="27432" tIns="27432" bIns="27432" anchor="t">
            <a:spAutoFit/>
          </a:bodyPr>
          <a:lstStyle/>
          <a:p>
            <a:pPr algn="ctr">
              <a:spcAft>
                <a:spcPts val="0"/>
              </a:spcAft>
            </a:pPr>
            <a:r>
              <a:rPr sz="1200" b="0" i="0">
                <a:solidFill>
                  <a:srgbClr val="64748B"/>
                </a:solidFill>
                <a:latin typeface="Liberation Sans"/>
              </a:rPr>
              <a:t>the population and programme response</a:t>
            </a:r>
          </a:p>
        </p:txBody>
      </p:sp>
      <p:sp>
        <p:nvSpPr>
          <p:cNvPr id="30" name="TextBox 29"/>
          <p:cNvSpPr txBox="1"/>
          <p:nvPr/>
        </p:nvSpPr>
        <p:spPr>
          <a:xfrm>
            <a:off x="9829800" y="4325112"/>
            <a:ext cx="1051560" cy="320040"/>
          </a:xfrm>
          <a:prstGeom prst="rect">
            <a:avLst/>
          </a:prstGeom>
          <a:noFill/>
        </p:spPr>
        <p:txBody>
          <a:bodyPr wrap="none" lIns="27432" rIns="27432" tIns="27432" bIns="27432" anchor="t">
            <a:spAutoFit/>
          </a:bodyPr>
          <a:lstStyle/>
          <a:p>
            <a:pPr algn="ctr">
              <a:spcAft>
                <a:spcPts val="0"/>
              </a:spcAft>
            </a:pPr>
            <a:r>
              <a:rPr sz="2400" b="1" i="0">
                <a:solidFill>
                  <a:srgbClr val="14B8A6"/>
                </a:solidFill>
                <a:latin typeface="Liberation Sans"/>
              </a:rPr>
              <a:t>↓</a:t>
            </a:r>
          </a:p>
        </p:txBody>
      </p:sp>
      <p:sp>
        <p:nvSpPr>
          <p:cNvPr id="31" name="TextBox 30"/>
          <p:cNvSpPr txBox="1"/>
          <p:nvPr/>
        </p:nvSpPr>
        <p:spPr>
          <a:xfrm>
            <a:off x="9464040" y="4700016"/>
            <a:ext cx="1783080" cy="347472"/>
          </a:xfrm>
          <a:prstGeom prst="rect">
            <a:avLst/>
          </a:prstGeom>
          <a:noFill/>
        </p:spPr>
        <p:txBody>
          <a:bodyPr wrap="none" lIns="27432" rIns="27432" tIns="27432" bIns="27432" anchor="t">
            <a:spAutoFit/>
          </a:bodyPr>
          <a:lstStyle/>
          <a:p>
            <a:pPr algn="ctr">
              <a:spcAft>
                <a:spcPts val="0"/>
              </a:spcAft>
            </a:pPr>
            <a:r>
              <a:rPr sz="2500" b="1" i="0">
                <a:solidFill>
                  <a:srgbClr val="14B8A6"/>
                </a:solidFill>
                <a:latin typeface="Liberation Sans"/>
              </a:rPr>
              <a:t>ACT</a:t>
            </a:r>
          </a:p>
        </p:txBody>
      </p:sp>
      <p:sp>
        <p:nvSpPr>
          <p:cNvPr id="32" name="TextBox 31"/>
          <p:cNvSpPr txBox="1"/>
          <p:nvPr/>
        </p:nvSpPr>
        <p:spPr>
          <a:xfrm>
            <a:off x="9464040" y="5102352"/>
            <a:ext cx="1783080" cy="548640"/>
          </a:xfrm>
          <a:prstGeom prst="rect">
            <a:avLst/>
          </a:prstGeom>
          <a:noFill/>
        </p:spPr>
        <p:txBody>
          <a:bodyPr wrap="none" lIns="27432" rIns="27432" tIns="27432" bIns="27432" anchor="t">
            <a:spAutoFit/>
          </a:bodyPr>
          <a:lstStyle/>
          <a:p>
            <a:pPr algn="ctr">
              <a:spcAft>
                <a:spcPts val="0"/>
              </a:spcAft>
            </a:pPr>
            <a:r>
              <a:rPr sz="1200" b="0" i="0">
                <a:solidFill>
                  <a:srgbClr val="64748B"/>
                </a:solidFill>
                <a:latin typeface="Liberation Sans"/>
              </a:rPr>
              <a:t>with measurable, data-governed interventions</a:t>
            </a:r>
          </a:p>
        </p:txBody>
      </p:sp>
      <p:sp>
        <p:nvSpPr>
          <p:cNvPr id="33" name="TextBox 32"/>
          <p:cNvSpPr txBox="1"/>
          <p:nvPr/>
        </p:nvSpPr>
        <p:spPr>
          <a:xfrm>
            <a:off x="658368" y="5815584"/>
            <a:ext cx="8138160" cy="228600"/>
          </a:xfrm>
          <a:prstGeom prst="rect">
            <a:avLst/>
          </a:prstGeom>
          <a:noFill/>
        </p:spPr>
        <p:txBody>
          <a:bodyPr wrap="none" lIns="27432" rIns="27432" tIns="27432" bIns="27432" anchor="t">
            <a:spAutoFit/>
          </a:bodyPr>
          <a:lstStyle/>
          <a:p>
            <a:pPr algn="l">
              <a:spcAft>
                <a:spcPts val="0"/>
              </a:spcAft>
            </a:pPr>
            <a:r>
              <a:rPr sz="1100" b="1" i="0">
                <a:solidFill>
                  <a:srgbClr val="9EE7E5"/>
                </a:solidFill>
                <a:latin typeface="Liberation Sans"/>
              </a:rPr>
              <a:t>Published dashboard URL: [PASTE STREAMLIT URL HERE]</a:t>
            </a:r>
          </a:p>
        </p:txBody>
      </p:sp>
      <p:sp>
        <p:nvSpPr>
          <p:cNvPr id="34" name="TextBox 33"/>
          <p:cNvSpPr txBox="1"/>
          <p:nvPr/>
        </p:nvSpPr>
        <p:spPr>
          <a:xfrm>
            <a:off x="658368" y="6199632"/>
            <a:ext cx="2743200" cy="256032"/>
          </a:xfrm>
          <a:prstGeom prst="rect">
            <a:avLst/>
          </a:prstGeom>
          <a:noFill/>
        </p:spPr>
        <p:txBody>
          <a:bodyPr wrap="none" lIns="27432" rIns="27432" tIns="27432" bIns="27432" anchor="t">
            <a:spAutoFit/>
          </a:bodyPr>
          <a:lstStyle/>
          <a:p>
            <a:pPr algn="l">
              <a:spcAft>
                <a:spcPts val="0"/>
              </a:spcAft>
            </a:pPr>
            <a:r>
              <a:rPr sz="1700" b="1" i="0">
                <a:solidFill>
                  <a:srgbClr val="FFFFFF"/>
                </a:solidFill>
                <a:latin typeface="Liberation San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